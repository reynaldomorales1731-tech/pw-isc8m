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D8DDEA-15CA-AA66-710B-47E86E0B2093}" v="907" dt="2026-05-04T22:36:39.590"/>
    <p1510:client id="{B1985B77-119A-58B2-44D0-3D66F6861303}" v="30" dt="2026-05-04T22:05:12.2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88191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398174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339700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97902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40771E8B-6CA5-40B2-8038-0E112F3DAC1C}" type="datetimeFigureOut">
              <a:rPr lang="es-ES" smtClean="0"/>
              <a:t>04/05/2026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752394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40771E8B-6CA5-40B2-8038-0E112F3DAC1C}" type="datetimeFigureOut">
              <a:rPr lang="es-ES" smtClean="0"/>
              <a:t>04/05/2026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30658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40771E8B-6CA5-40B2-8038-0E112F3DAC1C}" type="datetimeFigureOut">
              <a:rPr lang="es-ES" smtClean="0"/>
              <a:t>04/05/2026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682375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1360449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40771E8B-6CA5-40B2-8038-0E112F3DAC1C}" type="datetimeFigureOut">
              <a:rPr lang="es-ES" smtClean="0"/>
              <a:t>04/05/2026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383603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54186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40771E8B-6CA5-40B2-8038-0E112F3DAC1C}" type="datetimeFigureOut">
              <a:rPr lang="es-ES" smtClean="0"/>
              <a:t>04/05/2026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0F1556C4-DFC3-4611-A7CC-780699185E26}" type="slidenum">
              <a:rPr lang="es-ES" smtClean="0"/>
              <a:t>‹Nº›</a:t>
            </a:fld>
            <a:endParaRPr lang="es-ES"/>
          </a:p>
        </p:txBody>
      </p:sp>
    </p:spTree>
    <p:extLst>
      <p:ext uri="{BB962C8B-B14F-4D97-AF65-F5344CB8AC3E}">
        <p14:creationId xmlns:p14="http://schemas.microsoft.com/office/powerpoint/2010/main" val="221509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771E8B-6CA5-40B2-8038-0E112F3DAC1C}" type="datetimeFigureOut">
              <a:rPr lang="es-ES" smtClean="0"/>
              <a:t>04/05/2026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1556C4-DFC3-4611-A7CC-780699185E26}" type="slidenum">
              <a:rPr lang="es-ES" smtClean="0"/>
              <a:t>‹Nº›</a:t>
            </a:fld>
            <a:endParaRPr lang="es-ES"/>
          </a:p>
        </p:txBody>
      </p:sp>
    </p:spTree>
    <p:extLst>
      <p:ext uri="{BB962C8B-B14F-4D97-AF65-F5344CB8AC3E}">
        <p14:creationId xmlns:p14="http://schemas.microsoft.com/office/powerpoint/2010/main" val="2933118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1">
            <a:extLst>
              <a:ext uri="{FF2B5EF4-FFF2-40B4-BE49-F238E27FC236}">
                <a16:creationId xmlns:a16="http://schemas.microsoft.com/office/drawing/2014/main" id="{B18B68FC-A42A-0C86-27C1-C97153163AF5}"/>
              </a:ext>
            </a:extLst>
          </p:cNvPr>
          <p:cNvSpPr txBox="1"/>
          <p:nvPr/>
        </p:nvSpPr>
        <p:spPr>
          <a:xfrm>
            <a:off x="4724400" y="2309003"/>
            <a:ext cx="3634596" cy="375487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400" dirty="0">
                <a:latin typeface="Arial"/>
                <a:cs typeface="Segoe UI"/>
              </a:rPr>
              <a:t>Tecnológico Nacional de México</a:t>
            </a:r>
            <a:r>
              <a:rPr lang="en-US" sz="1400" dirty="0">
                <a:latin typeface="Arial"/>
                <a:cs typeface="Segoe UI"/>
              </a:rPr>
              <a:t>​</a:t>
            </a:r>
            <a:endParaRPr lang="es-ES" sz="1400" dirty="0">
              <a:latin typeface="Arial"/>
              <a:cs typeface="Arial"/>
            </a:endParaRPr>
          </a:p>
          <a:p>
            <a:pPr algn="ctr"/>
            <a:r>
              <a:rPr lang="es-ES" sz="1400" dirty="0">
                <a:latin typeface="Arial"/>
                <a:cs typeface="Segoe UI"/>
              </a:rPr>
              <a:t>Instituto Tecnológico de Frontera Comalapa</a:t>
            </a:r>
            <a:r>
              <a:rPr lang="en-US" sz="1400" dirty="0">
                <a:latin typeface="Arial"/>
                <a:cs typeface="Segoe UI"/>
              </a:rPr>
              <a:t>​</a:t>
            </a:r>
          </a:p>
          <a:p>
            <a:pPr algn="ctr"/>
            <a:r>
              <a:rPr lang="es-ES" sz="1400" dirty="0">
                <a:latin typeface="Arial"/>
                <a:cs typeface="Segoe UI"/>
              </a:rPr>
              <a:t>​</a:t>
            </a:r>
          </a:p>
          <a:p>
            <a:pPr algn="ctr"/>
            <a:r>
              <a:rPr lang="en-US" sz="1400">
                <a:latin typeface="Arial"/>
                <a:cs typeface="Segoe UI"/>
              </a:rPr>
              <a:t>EJERCICIOS</a:t>
            </a:r>
            <a:endParaRPr lang="en-US" sz="1400" dirty="0">
              <a:latin typeface="Arial"/>
              <a:cs typeface="Segoe UI"/>
            </a:endParaRPr>
          </a:p>
          <a:p>
            <a:pPr algn="ctr"/>
            <a:endParaRPr lang="en-US" sz="1400">
              <a:latin typeface="Arial"/>
              <a:cs typeface="Segoe UI"/>
            </a:endParaRPr>
          </a:p>
          <a:p>
            <a:pPr algn="ctr"/>
            <a:r>
              <a:rPr lang="es-ES" sz="1400">
                <a:latin typeface="Arial"/>
                <a:cs typeface="Segoe UI"/>
              </a:rPr>
              <a:t>PROGRAMACIÓN WEB</a:t>
            </a:r>
            <a:endParaRPr lang="es-ES" sz="1400" dirty="0">
              <a:latin typeface="Arial"/>
              <a:cs typeface="Segoe UI"/>
            </a:endParaRPr>
          </a:p>
          <a:p>
            <a:pPr algn="ctr"/>
            <a:r>
              <a:rPr lang="es-ES" sz="1400" dirty="0">
                <a:latin typeface="Arial"/>
                <a:cs typeface="Segoe UI"/>
              </a:rPr>
              <a:t>​</a:t>
            </a:r>
            <a:endParaRPr lang="es-ES" sz="1400" dirty="0">
              <a:latin typeface="Arial"/>
              <a:cs typeface="Arial"/>
            </a:endParaRPr>
          </a:p>
          <a:p>
            <a:pPr algn="ctr"/>
            <a:r>
              <a:rPr lang="es-ES" sz="1400" dirty="0">
                <a:latin typeface="Arial"/>
                <a:cs typeface="Segoe UI"/>
              </a:rPr>
              <a:t>Integrante: </a:t>
            </a:r>
            <a:r>
              <a:rPr lang="en-US" sz="1400" dirty="0">
                <a:latin typeface="Arial"/>
                <a:cs typeface="Segoe UI"/>
              </a:rPr>
              <a:t>​</a:t>
            </a:r>
          </a:p>
          <a:p>
            <a:pPr algn="ctr"/>
            <a:endParaRPr lang="es-ES" sz="1400" dirty="0">
              <a:latin typeface="Arial"/>
              <a:cs typeface="Segoe UI"/>
            </a:endParaRPr>
          </a:p>
          <a:p>
            <a:pPr algn="ctr"/>
            <a:r>
              <a:rPr lang="es-ES" sz="1400" dirty="0">
                <a:latin typeface="Arial"/>
                <a:cs typeface="Segoe UI"/>
              </a:rPr>
              <a:t>Reynaldo Felipe Morales Silva</a:t>
            </a:r>
            <a:r>
              <a:rPr lang="en-US" sz="1400" dirty="0">
                <a:latin typeface="Arial"/>
                <a:cs typeface="Segoe UI"/>
              </a:rPr>
              <a:t>​</a:t>
            </a:r>
          </a:p>
          <a:p>
            <a:pPr algn="ctr"/>
            <a:endParaRPr lang="es-MX" sz="1400">
              <a:latin typeface="Arial"/>
              <a:cs typeface="Arial"/>
            </a:endParaRPr>
          </a:p>
          <a:p>
            <a:pPr algn="ctr"/>
            <a:r>
              <a:rPr lang="es-ES" sz="1400" dirty="0">
                <a:latin typeface="Arial"/>
                <a:cs typeface="Segoe UI"/>
              </a:rPr>
              <a:t>Carrera: Ingeniería en Sistemas Computacionales</a:t>
            </a:r>
            <a:r>
              <a:rPr lang="en-US" sz="1400" dirty="0">
                <a:latin typeface="Arial"/>
                <a:cs typeface="Segoe UI"/>
              </a:rPr>
              <a:t>​</a:t>
            </a:r>
          </a:p>
          <a:p>
            <a:pPr algn="ctr"/>
            <a:r>
              <a:rPr lang="es-ES" sz="1400" dirty="0">
                <a:latin typeface="Arial"/>
                <a:cs typeface="Segoe UI"/>
              </a:rPr>
              <a:t>​</a:t>
            </a:r>
          </a:p>
          <a:p>
            <a:pPr algn="ctr"/>
            <a:r>
              <a:rPr lang="es-ES" sz="1400" dirty="0">
                <a:latin typeface="Arial"/>
                <a:cs typeface="Segoe UI"/>
              </a:rPr>
              <a:t>Docente: Ing. Francisco Javier Mingo Velázquez</a:t>
            </a:r>
          </a:p>
          <a:p>
            <a:pPr algn="ctr"/>
            <a:r>
              <a:rPr lang="es-ES" sz="1400">
                <a:latin typeface="Arial"/>
                <a:cs typeface="Segoe UI"/>
              </a:rPr>
              <a:t>Fecha:  24 de abril del 2026</a:t>
            </a:r>
          </a:p>
        </p:txBody>
      </p:sp>
      <p:pic>
        <p:nvPicPr>
          <p:cNvPr id="5" name="Imagen 4" descr="Imagen que contiene Logotipo&#10;&#10;El contenido generado por IA puede ser incorrecto.">
            <a:extLst>
              <a:ext uri="{FF2B5EF4-FFF2-40B4-BE49-F238E27FC236}">
                <a16:creationId xmlns:a16="http://schemas.microsoft.com/office/drawing/2014/main" id="{FB1911C2-9242-8CDD-F6F2-82D69EF08773}"/>
              </a:ext>
            </a:extLst>
          </p:cNvPr>
          <p:cNvPicPr>
            <a:picLocks noChangeAspect="1"/>
          </p:cNvPicPr>
          <p:nvPr/>
        </p:nvPicPr>
        <p:blipFill>
          <a:blip r:embed="rId2"/>
          <a:stretch>
            <a:fillRect/>
          </a:stretch>
        </p:blipFill>
        <p:spPr>
          <a:xfrm>
            <a:off x="694785" y="735222"/>
            <a:ext cx="3700014" cy="1131858"/>
          </a:xfrm>
          <a:prstGeom prst="rect">
            <a:avLst/>
          </a:prstGeom>
        </p:spPr>
      </p:pic>
      <p:pic>
        <p:nvPicPr>
          <p:cNvPr id="6" name="Imagen 5" descr="Logotipo, nombre de la empresa&#10;&#10;El contenido generado por IA puede ser incorrecto.">
            <a:extLst>
              <a:ext uri="{FF2B5EF4-FFF2-40B4-BE49-F238E27FC236}">
                <a16:creationId xmlns:a16="http://schemas.microsoft.com/office/drawing/2014/main" id="{6307CE53-6CEB-8234-F873-7FADA65A592C}"/>
              </a:ext>
            </a:extLst>
          </p:cNvPr>
          <p:cNvPicPr>
            <a:picLocks noChangeAspect="1"/>
          </p:cNvPicPr>
          <p:nvPr/>
        </p:nvPicPr>
        <p:blipFill>
          <a:blip r:embed="rId3"/>
          <a:stretch>
            <a:fillRect/>
          </a:stretch>
        </p:blipFill>
        <p:spPr>
          <a:xfrm>
            <a:off x="5401753" y="821486"/>
            <a:ext cx="2265513" cy="959330"/>
          </a:xfrm>
          <a:prstGeom prst="rect">
            <a:avLst/>
          </a:prstGeom>
        </p:spPr>
      </p:pic>
      <p:pic>
        <p:nvPicPr>
          <p:cNvPr id="7" name="Imagen 6" descr="Diagrama&#10;&#10;El contenido generado por IA puede ser incorrecto.">
            <a:extLst>
              <a:ext uri="{FF2B5EF4-FFF2-40B4-BE49-F238E27FC236}">
                <a16:creationId xmlns:a16="http://schemas.microsoft.com/office/drawing/2014/main" id="{CBA91D2A-2382-43CB-BAF9-49C1F0F3E39D}"/>
              </a:ext>
            </a:extLst>
          </p:cNvPr>
          <p:cNvPicPr>
            <a:picLocks noChangeAspect="1"/>
          </p:cNvPicPr>
          <p:nvPr/>
        </p:nvPicPr>
        <p:blipFill>
          <a:blip r:embed="rId4"/>
          <a:stretch>
            <a:fillRect/>
          </a:stretch>
        </p:blipFill>
        <p:spPr>
          <a:xfrm>
            <a:off x="9308172" y="754002"/>
            <a:ext cx="1396941" cy="950524"/>
          </a:xfrm>
          <a:prstGeom prst="rect">
            <a:avLst/>
          </a:prstGeom>
        </p:spPr>
      </p:pic>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7A195FF-8216-8970-4030-3A3FCC6D46C1}"/>
              </a:ext>
            </a:extLst>
          </p:cNvPr>
          <p:cNvSpPr>
            <a:spLocks noGrp="1"/>
          </p:cNvSpPr>
          <p:nvPr>
            <p:ph type="title"/>
          </p:nvPr>
        </p:nvSpPr>
        <p:spPr>
          <a:xfrm>
            <a:off x="1043631" y="809898"/>
            <a:ext cx="9942716" cy="1554480"/>
          </a:xfrm>
        </p:spPr>
        <p:txBody>
          <a:bodyPr anchor="ctr">
            <a:normAutofit/>
          </a:bodyPr>
          <a:lstStyle/>
          <a:p>
            <a:r>
              <a:rPr lang="es-ES" sz="4800"/>
              <a:t>INTRODUCCIÓN</a:t>
            </a:r>
          </a:p>
        </p:txBody>
      </p:sp>
      <p:sp>
        <p:nvSpPr>
          <p:cNvPr id="3" name="Marcador de contenido 2">
            <a:extLst>
              <a:ext uri="{FF2B5EF4-FFF2-40B4-BE49-F238E27FC236}">
                <a16:creationId xmlns:a16="http://schemas.microsoft.com/office/drawing/2014/main" id="{0AB11DC8-3020-29D9-5DC3-2A2EDB8426C1}"/>
              </a:ext>
            </a:extLst>
          </p:cNvPr>
          <p:cNvSpPr>
            <a:spLocks noGrp="1"/>
          </p:cNvSpPr>
          <p:nvPr>
            <p:ph idx="1"/>
          </p:nvPr>
        </p:nvSpPr>
        <p:spPr>
          <a:xfrm>
            <a:off x="1045028" y="3017522"/>
            <a:ext cx="9941319" cy="3124658"/>
          </a:xfrm>
        </p:spPr>
        <p:txBody>
          <a:bodyPr vert="horz" lIns="91440" tIns="45720" rIns="91440" bIns="45720" rtlCol="0" anchor="ctr">
            <a:normAutofit/>
          </a:bodyPr>
          <a:lstStyle/>
          <a:p>
            <a:pPr algn="just">
              <a:buNone/>
            </a:pPr>
            <a:r>
              <a:rPr lang="es-ES" sz="2000">
                <a:ea typeface="+mn-lt"/>
                <a:cs typeface="+mn-lt"/>
              </a:rPr>
              <a:t>En la presente práctica se trabajó en un entorno de desarrollo previamente configurado para la creación de una aplicación web local denominada </a:t>
            </a:r>
            <a:r>
              <a:rPr lang="es-ES" sz="2000" b="1">
                <a:ea typeface="+mn-lt"/>
                <a:cs typeface="+mn-lt"/>
              </a:rPr>
              <a:t>“Pizzas </a:t>
            </a:r>
            <a:r>
              <a:rPr lang="es-ES" sz="2000" b="1" err="1">
                <a:ea typeface="+mn-lt"/>
                <a:cs typeface="+mn-lt"/>
              </a:rPr>
              <a:t>Kids</a:t>
            </a:r>
            <a:r>
              <a:rPr lang="es-ES" sz="2000" b="1">
                <a:ea typeface="+mn-lt"/>
                <a:cs typeface="+mn-lt"/>
              </a:rPr>
              <a:t>”</a:t>
            </a:r>
            <a:r>
              <a:rPr lang="es-ES" sz="2000">
                <a:ea typeface="+mn-lt"/>
                <a:cs typeface="+mn-lt"/>
              </a:rPr>
              <a:t>. A partir de esta base, se realizaron diversos ejercicios prácticos con el objetivo de reforzar los conocimientos adquiridos en el desarrollo web. Estos ejercicios permitieron poner en práctica el uso de tecnologías como Angular, HTML, CSS y JavaScript, enfocándose en la creación de componentes, manipulación de contenido y diseño de interfaces. Además, se buscó comprender la estructura de una aplicación web moderna y su funcionamiento dentro de un entorno local. El desarrollo de estas actividades contribuye al aprendizaje significativo, ya que permite aplicar la teoría en situaciones reales, fortaleciendo habilidades técnicas y de resolución de problemas.</a:t>
            </a:r>
            <a:endParaRPr lang="es-ES" sz="2000"/>
          </a:p>
          <a:p>
            <a:pPr marL="0" indent="0">
              <a:buNone/>
            </a:pPr>
            <a:endParaRPr lang="es-ES" sz="20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6345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3EB8BD9-BB99-2D21-4BB7-3C2D0366E2CC}"/>
              </a:ext>
            </a:extLst>
          </p:cNvPr>
          <p:cNvSpPr>
            <a:spLocks noGrp="1"/>
          </p:cNvSpPr>
          <p:nvPr>
            <p:ph type="title"/>
          </p:nvPr>
        </p:nvSpPr>
        <p:spPr>
          <a:xfrm>
            <a:off x="1043631" y="809898"/>
            <a:ext cx="9942716" cy="1554480"/>
          </a:xfrm>
        </p:spPr>
        <p:txBody>
          <a:bodyPr anchor="ctr">
            <a:normAutofit/>
          </a:bodyPr>
          <a:lstStyle/>
          <a:p>
            <a:r>
              <a:rPr lang="es-ES" sz="4800"/>
              <a:t>JUSTIFICACIÓN</a:t>
            </a:r>
          </a:p>
        </p:txBody>
      </p:sp>
      <p:sp>
        <p:nvSpPr>
          <p:cNvPr id="3" name="Marcador de contenido 2">
            <a:extLst>
              <a:ext uri="{FF2B5EF4-FFF2-40B4-BE49-F238E27FC236}">
                <a16:creationId xmlns:a16="http://schemas.microsoft.com/office/drawing/2014/main" id="{533646AD-9D0B-115F-1A48-40F3833E2C7C}"/>
              </a:ext>
            </a:extLst>
          </p:cNvPr>
          <p:cNvSpPr>
            <a:spLocks noGrp="1"/>
          </p:cNvSpPr>
          <p:nvPr>
            <p:ph idx="1"/>
          </p:nvPr>
        </p:nvSpPr>
        <p:spPr>
          <a:xfrm>
            <a:off x="1045028" y="3017522"/>
            <a:ext cx="9941319" cy="3124658"/>
          </a:xfrm>
        </p:spPr>
        <p:txBody>
          <a:bodyPr vert="horz" lIns="91440" tIns="45720" rIns="91440" bIns="45720" rtlCol="0" anchor="ctr">
            <a:normAutofit/>
          </a:bodyPr>
          <a:lstStyle/>
          <a:p>
            <a:pPr algn="just">
              <a:buNone/>
            </a:pPr>
            <a:r>
              <a:rPr lang="es-ES" sz="2000" dirty="0">
                <a:ea typeface="+mn-lt"/>
                <a:cs typeface="+mn-lt"/>
              </a:rPr>
              <a:t>La realización de ejercicios prácticos dentro del entorno de desarrollo es fundamental para consolidar los conocimientos teóricos adquiridos en el área de programación web. En este caso, trabajar sobre la aplicación </a:t>
            </a:r>
            <a:r>
              <a:rPr lang="es-ES" sz="2000" b="1" dirty="0">
                <a:ea typeface="+mn-lt"/>
                <a:cs typeface="+mn-lt"/>
              </a:rPr>
              <a:t>“Pizzas </a:t>
            </a:r>
            <a:r>
              <a:rPr lang="es-ES" sz="2000" b="1" dirty="0" err="1">
                <a:ea typeface="+mn-lt"/>
                <a:cs typeface="+mn-lt"/>
              </a:rPr>
              <a:t>Kids</a:t>
            </a:r>
            <a:r>
              <a:rPr lang="es-ES" sz="2000" b="1" dirty="0">
                <a:ea typeface="+mn-lt"/>
                <a:cs typeface="+mn-lt"/>
              </a:rPr>
              <a:t>”</a:t>
            </a:r>
            <a:r>
              <a:rPr lang="es-ES" sz="2000" dirty="0">
                <a:ea typeface="+mn-lt"/>
                <a:cs typeface="+mn-lt"/>
              </a:rPr>
              <a:t> permitió simular un entorno real de desarrollo, donde se aplicaron conceptos clave en la creación de interfaces y funcionalidades. Esta práctica se justifica en la necesidad de que el estudiante adquiera experiencia en el uso de herramientas modernas como Angular, así como en la estructuración y organización del código. Además, fomenta el aprendizaje autónomo y la capacidad de enfrentar y resolver errores durante el proceso de desarrollo. Asimismo, estos ejercicios contribuyen a la formación profesional, ya que preparan al estudiante para desarrollar aplicaciones web funcionales y atractivas, adaptadas a diferentes tipos de usuarios.</a:t>
            </a:r>
            <a:endParaRPr lang="es-ES" sz="2000" dirty="0"/>
          </a:p>
          <a:p>
            <a:pPr marL="0" indent="0">
              <a:buNone/>
            </a:pPr>
            <a:endParaRPr lang="es-ES" sz="20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7452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084B4B9-A5A7-F744-D575-EE85A3747E5F}"/>
              </a:ext>
            </a:extLst>
          </p:cNvPr>
          <p:cNvSpPr>
            <a:spLocks noGrp="1"/>
          </p:cNvSpPr>
          <p:nvPr>
            <p:ph type="title"/>
          </p:nvPr>
        </p:nvSpPr>
        <p:spPr>
          <a:xfrm>
            <a:off x="630936" y="639520"/>
            <a:ext cx="3429000" cy="1719072"/>
          </a:xfrm>
        </p:spPr>
        <p:txBody>
          <a:bodyPr anchor="b">
            <a:normAutofit/>
          </a:bodyPr>
          <a:lstStyle/>
          <a:p>
            <a:r>
              <a:rPr lang="es-ES" sz="5000"/>
              <a:t>EJERCICIOS</a:t>
            </a:r>
          </a:p>
        </p:txBody>
      </p:sp>
      <p:sp>
        <p:nvSpPr>
          <p:cNvPr id="3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7975B57-9C89-B905-150C-6664FC875ECD}"/>
              </a:ext>
            </a:extLst>
          </p:cNvPr>
          <p:cNvSpPr>
            <a:spLocks noGrp="1"/>
          </p:cNvSpPr>
          <p:nvPr>
            <p:ph idx="1"/>
          </p:nvPr>
        </p:nvSpPr>
        <p:spPr>
          <a:xfrm>
            <a:off x="630936" y="2807208"/>
            <a:ext cx="3429000" cy="3410712"/>
          </a:xfrm>
        </p:spPr>
        <p:txBody>
          <a:bodyPr vert="horz" lIns="91440" tIns="45720" rIns="91440" bIns="45720" rtlCol="0" anchor="t">
            <a:normAutofit/>
          </a:bodyPr>
          <a:lstStyle/>
          <a:p>
            <a:pPr marL="0" indent="0">
              <a:buNone/>
            </a:pPr>
            <a:r>
              <a:rPr lang="es-ES" sz="2200"/>
              <a:t>Ejecutamos el proyecto que realizamos y cómo podemos ver nos lleva a el navegador.</a:t>
            </a:r>
          </a:p>
          <a:p>
            <a:pPr marL="0" indent="0">
              <a:buNone/>
            </a:pPr>
            <a:endParaRPr lang="es-ES" sz="2200"/>
          </a:p>
        </p:txBody>
      </p:sp>
      <p:pic>
        <p:nvPicPr>
          <p:cNvPr id="4" name="Imagen 3" descr="Interfaz de usuario gráfica&#10;&#10;El contenido generado por IA puede ser incorrecto.">
            <a:extLst>
              <a:ext uri="{FF2B5EF4-FFF2-40B4-BE49-F238E27FC236}">
                <a16:creationId xmlns:a16="http://schemas.microsoft.com/office/drawing/2014/main" id="{93098946-ECBB-A7A3-D209-15CFB8B1A5C6}"/>
              </a:ext>
            </a:extLst>
          </p:cNvPr>
          <p:cNvPicPr>
            <a:picLocks noChangeAspect="1"/>
          </p:cNvPicPr>
          <p:nvPr/>
        </p:nvPicPr>
        <p:blipFill>
          <a:blip r:embed="rId2"/>
          <a:stretch>
            <a:fillRect/>
          </a:stretch>
        </p:blipFill>
        <p:spPr>
          <a:xfrm>
            <a:off x="4654296" y="1487329"/>
            <a:ext cx="6903720" cy="3883342"/>
          </a:xfrm>
          <a:prstGeom prst="rect">
            <a:avLst/>
          </a:prstGeom>
        </p:spPr>
      </p:pic>
    </p:spTree>
    <p:extLst>
      <p:ext uri="{BB962C8B-B14F-4D97-AF65-F5344CB8AC3E}">
        <p14:creationId xmlns:p14="http://schemas.microsoft.com/office/powerpoint/2010/main" val="392190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79E35F3-5897-4EC6-6ECF-057117EA6837}"/>
              </a:ext>
            </a:extLst>
          </p:cNvPr>
          <p:cNvSpPr>
            <a:spLocks noGrp="1"/>
          </p:cNvSpPr>
          <p:nvPr>
            <p:ph type="title"/>
          </p:nvPr>
        </p:nvSpPr>
        <p:spPr>
          <a:xfrm>
            <a:off x="630936" y="639520"/>
            <a:ext cx="3429000" cy="1719072"/>
          </a:xfrm>
        </p:spPr>
        <p:txBody>
          <a:bodyPr anchor="b">
            <a:normAutofit/>
          </a:bodyPr>
          <a:lstStyle/>
          <a:p>
            <a:r>
              <a:rPr lang="es-ES" sz="5400"/>
              <a:t>PARTE DEL MENÚ</a:t>
            </a: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C03CE51-78EA-9E40-ECBF-DFDAFED024B5}"/>
              </a:ext>
            </a:extLst>
          </p:cNvPr>
          <p:cNvSpPr>
            <a:spLocks noGrp="1"/>
          </p:cNvSpPr>
          <p:nvPr>
            <p:ph idx="1"/>
          </p:nvPr>
        </p:nvSpPr>
        <p:spPr>
          <a:xfrm>
            <a:off x="630936" y="2807208"/>
            <a:ext cx="3429000" cy="3410712"/>
          </a:xfrm>
        </p:spPr>
        <p:txBody>
          <a:bodyPr vert="horz" lIns="91440" tIns="45720" rIns="91440" bIns="45720" rtlCol="0" anchor="t">
            <a:normAutofit/>
          </a:bodyPr>
          <a:lstStyle/>
          <a:p>
            <a:pPr marL="0" indent="0">
              <a:buNone/>
            </a:pPr>
            <a:r>
              <a:rPr lang="es-ES" sz="2200" err="1"/>
              <a:t>Despues</a:t>
            </a:r>
            <a:r>
              <a:rPr lang="es-ES" sz="2200"/>
              <a:t> de lo anterior le dimos clic en ir al menú nos lanza directamente al menú quedando de la siguiente manera:</a:t>
            </a:r>
          </a:p>
          <a:p>
            <a:pPr marL="0" indent="0">
              <a:buNone/>
            </a:pPr>
            <a:r>
              <a:rPr lang="es-ES" sz="2200" dirty="0"/>
              <a:t>Como podremos observar el </a:t>
            </a:r>
            <a:r>
              <a:rPr lang="es-ES" sz="2200" dirty="0" err="1"/>
              <a:t>menu</a:t>
            </a:r>
            <a:r>
              <a:rPr lang="es-ES" sz="2200" dirty="0"/>
              <a:t> cuenta con tres especialidades los cuales son </a:t>
            </a:r>
            <a:r>
              <a:rPr lang="es-ES" sz="2200" dirty="0" err="1"/>
              <a:t>peperoni</a:t>
            </a:r>
            <a:r>
              <a:rPr lang="es-ES" sz="2200" dirty="0"/>
              <a:t>, mexicana y </a:t>
            </a:r>
            <a:r>
              <a:rPr lang="es-ES" sz="2200" dirty="0" err="1"/>
              <a:t>hawuaiana</a:t>
            </a:r>
            <a:r>
              <a:rPr lang="es-ES" sz="2200" dirty="0"/>
              <a:t>.</a:t>
            </a:r>
          </a:p>
          <a:p>
            <a:pPr marL="0" indent="0">
              <a:buNone/>
            </a:pPr>
            <a:endParaRPr lang="es-ES" sz="2200"/>
          </a:p>
        </p:txBody>
      </p:sp>
      <p:pic>
        <p:nvPicPr>
          <p:cNvPr id="4" name="Imagen 3" descr="Interfaz de usuario gráfica, Aplicación&#10;&#10;El contenido generado por IA puede ser incorrecto.">
            <a:extLst>
              <a:ext uri="{FF2B5EF4-FFF2-40B4-BE49-F238E27FC236}">
                <a16:creationId xmlns:a16="http://schemas.microsoft.com/office/drawing/2014/main" id="{04F4FF9C-768C-7099-BBBC-AE213ACA4DD2}"/>
              </a:ext>
            </a:extLst>
          </p:cNvPr>
          <p:cNvPicPr>
            <a:picLocks noChangeAspect="1"/>
          </p:cNvPicPr>
          <p:nvPr/>
        </p:nvPicPr>
        <p:blipFill>
          <a:blip r:embed="rId2"/>
          <a:stretch>
            <a:fillRect/>
          </a:stretch>
        </p:blipFill>
        <p:spPr>
          <a:xfrm>
            <a:off x="4654296" y="1487329"/>
            <a:ext cx="6903720" cy="3883342"/>
          </a:xfrm>
          <a:prstGeom prst="rect">
            <a:avLst/>
          </a:prstGeom>
        </p:spPr>
      </p:pic>
    </p:spTree>
    <p:extLst>
      <p:ext uri="{BB962C8B-B14F-4D97-AF65-F5344CB8AC3E}">
        <p14:creationId xmlns:p14="http://schemas.microsoft.com/office/powerpoint/2010/main" val="3888247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8">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Interfaz de usuario gráfica, Aplicación&#10;&#10;El contenido generado por IA puede ser incorrecto.">
            <a:extLst>
              <a:ext uri="{FF2B5EF4-FFF2-40B4-BE49-F238E27FC236}">
                <a16:creationId xmlns:a16="http://schemas.microsoft.com/office/drawing/2014/main" id="{FD2D6E49-F8A8-32BD-0B56-512BDD60EB77}"/>
              </a:ext>
            </a:extLst>
          </p:cNvPr>
          <p:cNvPicPr>
            <a:picLocks noChangeAspect="1"/>
          </p:cNvPicPr>
          <p:nvPr/>
        </p:nvPicPr>
        <p:blipFill>
          <a:blip r:embed="rId2"/>
          <a:stretch>
            <a:fillRect/>
          </a:stretch>
        </p:blipFill>
        <p:spPr>
          <a:xfrm>
            <a:off x="576244" y="1729685"/>
            <a:ext cx="5628018" cy="3165759"/>
          </a:xfrm>
          <a:prstGeom prst="rect">
            <a:avLst/>
          </a:prstGeom>
        </p:spPr>
      </p:pic>
      <p:sp>
        <p:nvSpPr>
          <p:cNvPr id="21" name="Rectangle 1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DF7AA2F-09AD-FF2F-C948-3C5B313679D1}"/>
              </a:ext>
            </a:extLst>
          </p:cNvPr>
          <p:cNvSpPr>
            <a:spLocks noGrp="1"/>
          </p:cNvSpPr>
          <p:nvPr>
            <p:ph idx="1"/>
          </p:nvPr>
        </p:nvSpPr>
        <p:spPr>
          <a:xfrm>
            <a:off x="7239012" y="2031101"/>
            <a:ext cx="4282984" cy="3511943"/>
          </a:xfrm>
        </p:spPr>
        <p:txBody>
          <a:bodyPr vert="horz" lIns="91440" tIns="45720" rIns="91440" bIns="45720" rtlCol="0" anchor="ctr">
            <a:normAutofit/>
          </a:bodyPr>
          <a:lstStyle/>
          <a:p>
            <a:pPr marL="0" indent="0">
              <a:buNone/>
            </a:pPr>
            <a:r>
              <a:rPr lang="es-ES" sz="1800" dirty="0"/>
              <a:t>Si por ejemplo quiero comprar una pizza de 80 pequeña lo </a:t>
            </a:r>
            <a:r>
              <a:rPr lang="es-ES" sz="1800" dirty="0" err="1"/>
              <a:t>unico</a:t>
            </a:r>
            <a:r>
              <a:rPr lang="es-ES" sz="1800" dirty="0"/>
              <a:t> seria darle clic en este caso daremos clic en cualquier pizza, pero q sea de 80 y pequeña. Al momento de hacerlo nos </a:t>
            </a:r>
            <a:r>
              <a:rPr lang="es-ES" sz="1800" dirty="0" err="1"/>
              <a:t>aparecera</a:t>
            </a:r>
            <a:r>
              <a:rPr lang="es-ES" sz="1800"/>
              <a:t> esto.</a:t>
            </a:r>
            <a:endParaRPr lang="es-ES"/>
          </a:p>
          <a:p>
            <a:pPr marL="0" indent="0">
              <a:buNone/>
            </a:pPr>
            <a:r>
              <a:rPr lang="es-ES" sz="1800" err="1"/>
              <a:t>Despues</a:t>
            </a:r>
            <a:r>
              <a:rPr lang="es-ES" sz="1800" dirty="0"/>
              <a:t> de esto nosotros le damos clic en el </a:t>
            </a:r>
            <a:r>
              <a:rPr lang="es-ES" sz="1800" err="1"/>
              <a:t>boton</a:t>
            </a:r>
            <a:r>
              <a:rPr lang="es-ES" sz="1800" dirty="0"/>
              <a:t> que </a:t>
            </a:r>
            <a:r>
              <a:rPr lang="es-ES" sz="1800"/>
              <a:t>aparece abajo que es ir a orden.</a:t>
            </a:r>
            <a:endParaRPr lang="es-ES" sz="1800" dirty="0"/>
          </a:p>
        </p:txBody>
      </p:sp>
      <p:sp>
        <p:nvSpPr>
          <p:cNvPr id="17" name="Rectangle 1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6041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B2D0620-8B21-DBB3-8620-D95A71FCBD2D}"/>
              </a:ext>
            </a:extLst>
          </p:cNvPr>
          <p:cNvSpPr>
            <a:spLocks noGrp="1"/>
          </p:cNvSpPr>
          <p:nvPr>
            <p:ph type="title"/>
          </p:nvPr>
        </p:nvSpPr>
        <p:spPr>
          <a:xfrm>
            <a:off x="589560" y="856180"/>
            <a:ext cx="4560584" cy="1128068"/>
          </a:xfrm>
        </p:spPr>
        <p:txBody>
          <a:bodyPr anchor="ctr">
            <a:normAutofit/>
          </a:bodyPr>
          <a:lstStyle/>
          <a:p>
            <a:r>
              <a:rPr lang="es-ES" sz="4000"/>
              <a:t>ORDEN</a:t>
            </a:r>
          </a:p>
        </p:txBody>
      </p:sp>
      <p:grpSp>
        <p:nvGrpSpPr>
          <p:cNvPr id="16"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D257AB9-1376-A666-E21E-8D40834F69B2}"/>
              </a:ext>
            </a:extLst>
          </p:cNvPr>
          <p:cNvSpPr>
            <a:spLocks noGrp="1"/>
          </p:cNvSpPr>
          <p:nvPr>
            <p:ph idx="1"/>
          </p:nvPr>
        </p:nvSpPr>
        <p:spPr>
          <a:xfrm>
            <a:off x="590719" y="2330505"/>
            <a:ext cx="4559425" cy="3979585"/>
          </a:xfrm>
        </p:spPr>
        <p:txBody>
          <a:bodyPr vert="horz" lIns="91440" tIns="45720" rIns="91440" bIns="45720" rtlCol="0" anchor="ctr">
            <a:normAutofit/>
          </a:bodyPr>
          <a:lstStyle/>
          <a:p>
            <a:pPr marL="0" indent="0">
              <a:buNone/>
            </a:pPr>
            <a:r>
              <a:rPr lang="es-ES" sz="2000"/>
              <a:t>Un </a:t>
            </a:r>
            <a:r>
              <a:rPr lang="es-ES" sz="2000" err="1"/>
              <a:t>avez</a:t>
            </a:r>
            <a:r>
              <a:rPr lang="es-ES" sz="2000"/>
              <a:t> ya estando dentro de el apartado de orden nos </a:t>
            </a:r>
            <a:r>
              <a:rPr lang="es-ES" sz="2000" err="1"/>
              <a:t>aparecera</a:t>
            </a:r>
            <a:r>
              <a:rPr lang="es-ES" sz="2000"/>
              <a:t> como tal el pedido que pedimos y el precio a pagar, si en dado caso </a:t>
            </a:r>
            <a:r>
              <a:rPr lang="es-ES" sz="2000" err="1"/>
              <a:t>hubieramos</a:t>
            </a:r>
            <a:r>
              <a:rPr lang="es-ES" sz="2000" dirty="0"/>
              <a:t> </a:t>
            </a:r>
            <a:r>
              <a:rPr lang="es-ES" sz="2000" err="1"/>
              <a:t>escogio</a:t>
            </a:r>
            <a:r>
              <a:rPr lang="es-ES" sz="2000"/>
              <a:t> otra pizza con mas valor en la orden se </a:t>
            </a:r>
            <a:r>
              <a:rPr lang="es-ES" sz="2000" err="1"/>
              <a:t>estaria</a:t>
            </a:r>
            <a:r>
              <a:rPr lang="es-ES" sz="2000"/>
              <a:t> cobrando todo y apareciendo </a:t>
            </a:r>
            <a:r>
              <a:rPr lang="es-ES" sz="2000" err="1"/>
              <a:t>tambien</a:t>
            </a:r>
            <a:r>
              <a:rPr lang="es-ES" sz="2000"/>
              <a:t> la pizza.</a:t>
            </a:r>
          </a:p>
          <a:p>
            <a:pPr marL="0" indent="0">
              <a:buNone/>
            </a:pPr>
            <a:r>
              <a:rPr lang="es-ES" sz="2000" err="1"/>
              <a:t>Despues</a:t>
            </a:r>
            <a:r>
              <a:rPr lang="es-ES" sz="2000"/>
              <a:t> de esto le damos en continuar con el pago.</a:t>
            </a:r>
            <a:endParaRPr lang="es-ES" sz="2000" dirty="0"/>
          </a:p>
          <a:p>
            <a:pPr marL="0" indent="0">
              <a:buNone/>
            </a:pPr>
            <a:endParaRPr lang="es-ES" sz="200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n 3" descr="Interfaz de usuario gráfica, Aplicación&#10;&#10;El contenido generado por IA puede ser incorrecto.">
            <a:extLst>
              <a:ext uri="{FF2B5EF4-FFF2-40B4-BE49-F238E27FC236}">
                <a16:creationId xmlns:a16="http://schemas.microsoft.com/office/drawing/2014/main" id="{16F3A837-1815-E47D-6603-413CB7165077}"/>
              </a:ext>
            </a:extLst>
          </p:cNvPr>
          <p:cNvPicPr>
            <a:picLocks noChangeAspect="1"/>
          </p:cNvPicPr>
          <p:nvPr/>
        </p:nvPicPr>
        <p:blipFill>
          <a:blip r:embed="rId2"/>
          <a:srcRect r="1" b="12514"/>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3137109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73DC38D-5B48-C96A-E355-4934A30154D9}"/>
              </a:ext>
            </a:extLst>
          </p:cNvPr>
          <p:cNvSpPr>
            <a:spLocks noGrp="1"/>
          </p:cNvSpPr>
          <p:nvPr>
            <p:ph type="title"/>
          </p:nvPr>
        </p:nvSpPr>
        <p:spPr>
          <a:xfrm>
            <a:off x="630936" y="639520"/>
            <a:ext cx="3429000" cy="1719072"/>
          </a:xfrm>
        </p:spPr>
        <p:txBody>
          <a:bodyPr anchor="b">
            <a:normAutofit/>
          </a:bodyPr>
          <a:lstStyle/>
          <a:p>
            <a:r>
              <a:rPr lang="es-ES" sz="5400"/>
              <a:t>PAGO</a:t>
            </a: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3A72818-B724-6985-697D-76283C9E1354}"/>
              </a:ext>
            </a:extLst>
          </p:cNvPr>
          <p:cNvSpPr>
            <a:spLocks noGrp="1"/>
          </p:cNvSpPr>
          <p:nvPr>
            <p:ph idx="1"/>
          </p:nvPr>
        </p:nvSpPr>
        <p:spPr>
          <a:xfrm>
            <a:off x="630936" y="2807208"/>
            <a:ext cx="3429000" cy="3410712"/>
          </a:xfrm>
        </p:spPr>
        <p:txBody>
          <a:bodyPr vert="horz" lIns="91440" tIns="45720" rIns="91440" bIns="45720" rtlCol="0" anchor="t">
            <a:normAutofit fontScale="92500"/>
          </a:bodyPr>
          <a:lstStyle/>
          <a:p>
            <a:pPr marL="0" indent="0">
              <a:buNone/>
            </a:pPr>
            <a:r>
              <a:rPr lang="es-ES" sz="2200"/>
              <a:t>EN este apartado ya nos pide si se </a:t>
            </a:r>
            <a:r>
              <a:rPr lang="es-ES" sz="2200" err="1"/>
              <a:t>estara</a:t>
            </a:r>
            <a:r>
              <a:rPr lang="es-ES" sz="2200"/>
              <a:t> llevando a domicilio o si lo </a:t>
            </a:r>
            <a:r>
              <a:rPr lang="es-ES" sz="2200" err="1"/>
              <a:t>iran</a:t>
            </a:r>
            <a:r>
              <a:rPr lang="es-ES" sz="2200"/>
              <a:t> a recoger en </a:t>
            </a:r>
            <a:r>
              <a:rPr lang="es-ES" sz="2200" err="1"/>
              <a:t>el</a:t>
            </a:r>
            <a:r>
              <a:rPr lang="es-ES" sz="2200"/>
              <a:t> local. </a:t>
            </a:r>
            <a:r>
              <a:rPr lang="es-ES" sz="2200" err="1"/>
              <a:t>Tambien</a:t>
            </a:r>
            <a:r>
              <a:rPr lang="es-ES" sz="2200"/>
              <a:t> pide sobre el </a:t>
            </a:r>
            <a:r>
              <a:rPr lang="es-ES" sz="2200" err="1"/>
              <a:t>metodo</a:t>
            </a:r>
            <a:r>
              <a:rPr lang="es-ES" sz="2200"/>
              <a:t> de pago de que manera estará pagando la persona.</a:t>
            </a:r>
          </a:p>
          <a:p>
            <a:pPr marL="0" indent="0">
              <a:buNone/>
            </a:pPr>
            <a:r>
              <a:rPr lang="es-ES" sz="2200" dirty="0"/>
              <a:t>Una vez que ya tengamos todo listo damos </a:t>
            </a:r>
            <a:r>
              <a:rPr lang="es-ES" sz="2200" dirty="0" err="1"/>
              <a:t>click</a:t>
            </a:r>
            <a:r>
              <a:rPr lang="es-ES" sz="2200" dirty="0"/>
              <a:t> en el </a:t>
            </a:r>
            <a:r>
              <a:rPr lang="es-ES" sz="2200" dirty="0" err="1"/>
              <a:t>boton</a:t>
            </a:r>
            <a:r>
              <a:rPr lang="es-ES" sz="2200" dirty="0"/>
              <a:t> en confirmar pedido.</a:t>
            </a:r>
          </a:p>
          <a:p>
            <a:pPr marL="0" indent="0">
              <a:buNone/>
            </a:pPr>
            <a:endParaRPr lang="es-ES" sz="2200"/>
          </a:p>
        </p:txBody>
      </p:sp>
      <p:pic>
        <p:nvPicPr>
          <p:cNvPr id="4" name="Imagen 3" descr="Interfaz de usuario gráfica, Aplicación&#10;&#10;El contenido generado por IA puede ser incorrecto.">
            <a:extLst>
              <a:ext uri="{FF2B5EF4-FFF2-40B4-BE49-F238E27FC236}">
                <a16:creationId xmlns:a16="http://schemas.microsoft.com/office/drawing/2014/main" id="{4700A61C-DBC9-3FBA-C3A3-2F81C58D3329}"/>
              </a:ext>
            </a:extLst>
          </p:cNvPr>
          <p:cNvPicPr>
            <a:picLocks noChangeAspect="1"/>
          </p:cNvPicPr>
          <p:nvPr/>
        </p:nvPicPr>
        <p:blipFill>
          <a:blip r:embed="rId2"/>
          <a:stretch>
            <a:fillRect/>
          </a:stretch>
        </p:blipFill>
        <p:spPr>
          <a:xfrm>
            <a:off x="4654296" y="667513"/>
            <a:ext cx="6903720" cy="5522974"/>
          </a:xfrm>
          <a:prstGeom prst="rect">
            <a:avLst/>
          </a:prstGeom>
        </p:spPr>
      </p:pic>
    </p:spTree>
    <p:extLst>
      <p:ext uri="{BB962C8B-B14F-4D97-AF65-F5344CB8AC3E}">
        <p14:creationId xmlns:p14="http://schemas.microsoft.com/office/powerpoint/2010/main" val="1880134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7039159-F60A-3BB8-72C0-2FF2750DD24C}"/>
              </a:ext>
            </a:extLst>
          </p:cNvPr>
          <p:cNvSpPr>
            <a:spLocks noGrp="1"/>
          </p:cNvSpPr>
          <p:nvPr>
            <p:ph idx="1"/>
          </p:nvPr>
        </p:nvSpPr>
        <p:spPr>
          <a:xfrm>
            <a:off x="4654295" y="502920"/>
            <a:ext cx="6894576" cy="1463040"/>
          </a:xfrm>
        </p:spPr>
        <p:txBody>
          <a:bodyPr vert="horz" lIns="91440" tIns="45720" rIns="91440" bIns="45720" rtlCol="0" anchor="ctr">
            <a:normAutofit/>
          </a:bodyPr>
          <a:lstStyle/>
          <a:p>
            <a:pPr marL="0" indent="0">
              <a:buNone/>
            </a:pPr>
            <a:r>
              <a:rPr lang="es-ES" sz="2200" dirty="0"/>
              <a:t>Una vez que ya tengamos esto ya resuelto y echo todos los campos nos </a:t>
            </a:r>
            <a:r>
              <a:rPr lang="es-ES" sz="2200" dirty="0" err="1"/>
              <a:t>aparecera</a:t>
            </a:r>
            <a:r>
              <a:rPr lang="es-ES" sz="2200" dirty="0"/>
              <a:t> la siguiente notificación. Y nomas le daremos clic en aceptar y ya quedara listo nuestro pedido</a:t>
            </a:r>
          </a:p>
          <a:p>
            <a:pPr marL="0" indent="0">
              <a:buNone/>
            </a:pPr>
            <a:endParaRPr lang="es-ES" sz="2200"/>
          </a:p>
        </p:txBody>
      </p:sp>
      <p:pic>
        <p:nvPicPr>
          <p:cNvPr id="5" name="Imagen 4" descr="Interfaz de usuario gráfica, Aplicación, Word&#10;&#10;El contenido generado por IA puede ser incorrecto.">
            <a:extLst>
              <a:ext uri="{FF2B5EF4-FFF2-40B4-BE49-F238E27FC236}">
                <a16:creationId xmlns:a16="http://schemas.microsoft.com/office/drawing/2014/main" id="{FDC8BE6F-43E1-8643-08D1-97DED330826D}"/>
              </a:ext>
            </a:extLst>
          </p:cNvPr>
          <p:cNvPicPr>
            <a:picLocks noChangeAspect="1"/>
          </p:cNvPicPr>
          <p:nvPr/>
        </p:nvPicPr>
        <p:blipFill>
          <a:blip r:embed="rId2"/>
          <a:stretch>
            <a:fillRect/>
          </a:stretch>
        </p:blipFill>
        <p:spPr>
          <a:xfrm>
            <a:off x="845730" y="2290936"/>
            <a:ext cx="10488348" cy="3959352"/>
          </a:xfrm>
          <a:prstGeom prst="rect">
            <a:avLst/>
          </a:prstGeom>
        </p:spPr>
      </p:pic>
    </p:spTree>
    <p:extLst>
      <p:ext uri="{BB962C8B-B14F-4D97-AF65-F5344CB8AC3E}">
        <p14:creationId xmlns:p14="http://schemas.microsoft.com/office/powerpoint/2010/main" val="3227267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038B2EA-467B-307C-9D2F-DD256CCF5FCC}"/>
              </a:ext>
            </a:extLst>
          </p:cNvPr>
          <p:cNvSpPr>
            <a:spLocks noGrp="1"/>
          </p:cNvSpPr>
          <p:nvPr>
            <p:ph type="title"/>
          </p:nvPr>
        </p:nvSpPr>
        <p:spPr>
          <a:xfrm>
            <a:off x="1043631" y="809898"/>
            <a:ext cx="9942716" cy="1554480"/>
          </a:xfrm>
        </p:spPr>
        <p:txBody>
          <a:bodyPr anchor="ctr">
            <a:normAutofit/>
          </a:bodyPr>
          <a:lstStyle/>
          <a:p>
            <a:r>
              <a:rPr lang="es-ES" sz="4800"/>
              <a:t>CONCLUSIÓN</a:t>
            </a:r>
          </a:p>
        </p:txBody>
      </p:sp>
      <p:sp>
        <p:nvSpPr>
          <p:cNvPr id="3" name="Marcador de contenido 2">
            <a:extLst>
              <a:ext uri="{FF2B5EF4-FFF2-40B4-BE49-F238E27FC236}">
                <a16:creationId xmlns:a16="http://schemas.microsoft.com/office/drawing/2014/main" id="{1F711B6F-0D63-2027-89A5-D21788F58750}"/>
              </a:ext>
            </a:extLst>
          </p:cNvPr>
          <p:cNvSpPr>
            <a:spLocks noGrp="1"/>
          </p:cNvSpPr>
          <p:nvPr>
            <p:ph idx="1"/>
          </p:nvPr>
        </p:nvSpPr>
        <p:spPr>
          <a:xfrm>
            <a:off x="1045028" y="3017522"/>
            <a:ext cx="9941319" cy="3124658"/>
          </a:xfrm>
        </p:spPr>
        <p:txBody>
          <a:bodyPr vert="horz" lIns="91440" tIns="45720" rIns="91440" bIns="45720" rtlCol="0" anchor="ctr">
            <a:normAutofit/>
          </a:bodyPr>
          <a:lstStyle/>
          <a:p>
            <a:pPr algn="just">
              <a:buNone/>
            </a:pPr>
            <a:r>
              <a:rPr lang="es-ES" sz="2000">
                <a:ea typeface="+mn-lt"/>
                <a:cs typeface="+mn-lt"/>
              </a:rPr>
              <a:t>La realización de este ejercicio dentro del entorno de desarrollo permitió reforzar de manera efectiva los conocimientos adquiridos en el área de aplicaciones web. El trabajo con la aplicación “Pizzas </a:t>
            </a:r>
            <a:r>
              <a:rPr lang="es-ES" sz="2000" err="1">
                <a:ea typeface="+mn-lt"/>
                <a:cs typeface="+mn-lt"/>
              </a:rPr>
              <a:t>Kids</a:t>
            </a:r>
            <a:r>
              <a:rPr lang="es-ES" sz="2000">
                <a:ea typeface="+mn-lt"/>
                <a:cs typeface="+mn-lt"/>
              </a:rPr>
              <a:t>” facilitó la comprensión de conceptos clave como la estructura de componentes, el diseño de interfaces y la ejecución de proyectos en un entorno local. Además, se logró desarrollar habilidades importantes como la resolución de problemas, la organización del código y el uso adecuado de herramientas tecnológicas. Estas competencias son fundamentales para el desarrollo profesional en el ámbito de la programación. La práctica resultó ser una experiencia enriquecedora, ya que permitió aplicar la teoría en un contexto práctico, logrando una aplicación funcional y visualmente atractiva.</a:t>
            </a:r>
            <a:endParaRPr lang="es-ES" sz="2000"/>
          </a:p>
          <a:p>
            <a:pPr marL="0" indent="0">
              <a:buNone/>
            </a:pPr>
            <a:endParaRPr lang="es-ES" sz="20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7252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7B088D-D5CC-4285-8643-096D5614F1EC}"/>
              </a:ext>
            </a:extLst>
          </p:cNvPr>
          <p:cNvSpPr>
            <a:spLocks noGrp="1"/>
          </p:cNvSpPr>
          <p:nvPr>
            <p:ph type="title"/>
          </p:nvPr>
        </p:nvSpPr>
        <p:spPr/>
        <p:txBody>
          <a:bodyPr/>
          <a:lstStyle/>
          <a:p>
            <a:r>
              <a:rPr lang="es-ES"/>
              <a:t>ANEXO ENLACE DE GIT</a:t>
            </a:r>
          </a:p>
        </p:txBody>
      </p:sp>
      <p:sp>
        <p:nvSpPr>
          <p:cNvPr id="3" name="Marcador de contenido 2">
            <a:extLst>
              <a:ext uri="{FF2B5EF4-FFF2-40B4-BE49-F238E27FC236}">
                <a16:creationId xmlns:a16="http://schemas.microsoft.com/office/drawing/2014/main" id="{654D87F7-6D67-04EC-1123-F9193C3B4AEA}"/>
              </a:ext>
            </a:extLst>
          </p:cNvPr>
          <p:cNvSpPr>
            <a:spLocks noGrp="1"/>
          </p:cNvSpPr>
          <p:nvPr>
            <p:ph idx="1"/>
          </p:nvPr>
        </p:nvSpPr>
        <p:spPr/>
        <p:txBody>
          <a:bodyPr vert="horz" lIns="91440" tIns="45720" rIns="91440" bIns="45720" rtlCol="0" anchor="t">
            <a:normAutofit/>
          </a:bodyPr>
          <a:lstStyle/>
          <a:p>
            <a:pPr marL="0" indent="0">
              <a:buNone/>
            </a:pPr>
            <a:endParaRPr lang="es-ES"/>
          </a:p>
        </p:txBody>
      </p:sp>
    </p:spTree>
    <p:extLst>
      <p:ext uri="{BB962C8B-B14F-4D97-AF65-F5344CB8AC3E}">
        <p14:creationId xmlns:p14="http://schemas.microsoft.com/office/powerpoint/2010/main" val="31434850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11</Slides>
  <Notes>0</Notes>
  <HiddenSlides>0</HiddenSlides>
  <MMClips>0</MMClips>
  <ScaleCrop>false</ScaleCrop>
  <HeadingPairs>
    <vt:vector size="4" baseType="variant">
      <vt:variant>
        <vt:lpstr>Tema</vt:lpstr>
      </vt:variant>
      <vt:variant>
        <vt:i4>1</vt:i4>
      </vt:variant>
      <vt:variant>
        <vt:lpstr>Títulos de diapositiva</vt:lpstr>
      </vt:variant>
      <vt:variant>
        <vt:i4>11</vt:i4>
      </vt:variant>
    </vt:vector>
  </HeadingPairs>
  <TitlesOfParts>
    <vt:vector size="12" baseType="lpstr">
      <vt:lpstr>Tema de Office</vt:lpstr>
      <vt:lpstr>Presentación de PowerPoint</vt:lpstr>
      <vt:lpstr>INTRODUCCIÓN</vt:lpstr>
      <vt:lpstr>JUSTIFICACIÓN</vt:lpstr>
      <vt:lpstr>EJERCICIOS</vt:lpstr>
      <vt:lpstr>PARTE DEL MENÚ</vt:lpstr>
      <vt:lpstr>Presentación de PowerPoint</vt:lpstr>
      <vt:lpstr>ORDEN</vt:lpstr>
      <vt:lpstr>PAGO</vt:lpstr>
      <vt:lpstr>Presentación de PowerPoint</vt:lpstr>
      <vt:lpstr>CONCLUSIÓN</vt:lpstr>
      <vt:lpstr>ANEXO ENLACE DE GIT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249</cp:revision>
  <dcterms:created xsi:type="dcterms:W3CDTF">2026-05-04T22:00:54Z</dcterms:created>
  <dcterms:modified xsi:type="dcterms:W3CDTF">2026-05-04T22:43:30Z</dcterms:modified>
</cp:coreProperties>
</file>