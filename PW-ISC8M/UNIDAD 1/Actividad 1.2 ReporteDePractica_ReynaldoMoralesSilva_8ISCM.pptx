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3E1AF2-DA25-E11D-C8C3-B6CF2896F297}" v="331" dt="2026-05-04T22:06:47.9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0" autoAdjust="0"/>
    <p:restoredTop sz="94660"/>
  </p:normalViewPr>
  <p:slideViewPr>
    <p:cSldViewPr snapToGrid="0">
      <p:cViewPr varScale="1">
        <p:scale>
          <a:sx n="73" d="100"/>
          <a:sy n="73" d="100"/>
        </p:scale>
        <p:origin x="72" y="3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04/05/2026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288191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04/05/2026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398174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04/05/2026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339700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40771E8B-6CA5-40B2-8038-0E112F3DAC1C}" type="datetimeFigureOut">
              <a:rPr lang="es-ES" smtClean="0"/>
              <a:t>04/05/2026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979029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40771E8B-6CA5-40B2-8038-0E112F3DAC1C}" type="datetimeFigureOut">
              <a:rPr lang="es-ES" smtClean="0"/>
              <a:t>04/05/2026</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1752394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40771E8B-6CA5-40B2-8038-0E112F3DAC1C}" type="datetimeFigureOut">
              <a:rPr lang="es-ES" smtClean="0"/>
              <a:t>04/05/2026</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630658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40771E8B-6CA5-40B2-8038-0E112F3DAC1C}" type="datetimeFigureOut">
              <a:rPr lang="es-ES" smtClean="0"/>
              <a:t>04/05/2026</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682375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04/05/2026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1360449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04/05/2026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83603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04/05/2026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541863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04/05/2026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21509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771E8B-6CA5-40B2-8038-0E112F3DAC1C}" type="datetimeFigureOut">
              <a:rPr lang="es-ES" smtClean="0"/>
              <a:t>04/05/2026</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1556C4-DFC3-4611-A7CC-780699185E26}" type="slidenum">
              <a:rPr lang="es-ES" smtClean="0"/>
              <a:t>‹Nº›</a:t>
            </a:fld>
            <a:endParaRPr lang="es-ES"/>
          </a:p>
        </p:txBody>
      </p:sp>
    </p:spTree>
    <p:extLst>
      <p:ext uri="{BB962C8B-B14F-4D97-AF65-F5344CB8AC3E}">
        <p14:creationId xmlns:p14="http://schemas.microsoft.com/office/powerpoint/2010/main" val="2933118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hyperlink" Target="http://localhost:4200"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angular.io/" TargetMode="External"/><Relationship Id="rId2" Type="http://schemas.openxmlformats.org/officeDocument/2006/relationships/hyperlink" Target="https://nodejs.org/" TargetMode="External"/><Relationship Id="rId1" Type="http://schemas.openxmlformats.org/officeDocument/2006/relationships/slideLayout" Target="../slideLayouts/slideLayout2.xml"/><Relationship Id="rId4" Type="http://schemas.openxmlformats.org/officeDocument/2006/relationships/hyperlink" Target="https://code.visualstudio.co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1">
            <a:extLst>
              <a:ext uri="{FF2B5EF4-FFF2-40B4-BE49-F238E27FC236}">
                <a16:creationId xmlns:a16="http://schemas.microsoft.com/office/drawing/2014/main" id="{B18B68FC-A42A-0C86-27C1-C97153163AF5}"/>
              </a:ext>
            </a:extLst>
          </p:cNvPr>
          <p:cNvSpPr txBox="1"/>
          <p:nvPr/>
        </p:nvSpPr>
        <p:spPr>
          <a:xfrm>
            <a:off x="4724400" y="2309003"/>
            <a:ext cx="3634596" cy="375487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1400" dirty="0">
                <a:latin typeface="Arial"/>
                <a:cs typeface="Segoe UI"/>
              </a:rPr>
              <a:t>Tecnológico Nacional de México</a:t>
            </a:r>
            <a:r>
              <a:rPr lang="en-US" sz="1400" dirty="0">
                <a:latin typeface="Arial"/>
                <a:cs typeface="Segoe UI"/>
              </a:rPr>
              <a:t>​</a:t>
            </a:r>
            <a:endParaRPr lang="es-ES" sz="1400" dirty="0">
              <a:latin typeface="Arial"/>
              <a:cs typeface="Arial"/>
            </a:endParaRPr>
          </a:p>
          <a:p>
            <a:pPr algn="ctr"/>
            <a:r>
              <a:rPr lang="es-ES" sz="1400" dirty="0">
                <a:latin typeface="Arial"/>
                <a:cs typeface="Segoe UI"/>
              </a:rPr>
              <a:t>Instituto Tecnológico de Frontera Comalapa</a:t>
            </a:r>
            <a:r>
              <a:rPr lang="en-US" sz="1400" dirty="0">
                <a:latin typeface="Arial"/>
                <a:cs typeface="Segoe UI"/>
              </a:rPr>
              <a:t>​</a:t>
            </a:r>
          </a:p>
          <a:p>
            <a:pPr algn="ctr"/>
            <a:r>
              <a:rPr lang="es-ES" sz="1400" dirty="0">
                <a:latin typeface="Arial"/>
                <a:cs typeface="Segoe UI"/>
              </a:rPr>
              <a:t>​</a:t>
            </a:r>
          </a:p>
          <a:p>
            <a:pPr algn="ctr"/>
            <a:r>
              <a:rPr lang="en-US" sz="1400" dirty="0">
                <a:latin typeface="Arial"/>
                <a:cs typeface="Segoe UI"/>
              </a:rPr>
              <a:t>REPORTE DE PRACTICA</a:t>
            </a:r>
          </a:p>
          <a:p>
            <a:pPr algn="ctr"/>
            <a:endParaRPr lang="en-US" sz="1400">
              <a:latin typeface="Arial"/>
              <a:cs typeface="Segoe UI"/>
            </a:endParaRPr>
          </a:p>
          <a:p>
            <a:pPr algn="ctr"/>
            <a:r>
              <a:rPr lang="es-ES" sz="1400">
                <a:latin typeface="Arial"/>
                <a:cs typeface="Segoe UI"/>
              </a:rPr>
              <a:t>PROGRAMACIÓN WEB</a:t>
            </a:r>
            <a:endParaRPr lang="es-ES" sz="1400" dirty="0">
              <a:latin typeface="Arial"/>
              <a:cs typeface="Segoe UI"/>
            </a:endParaRPr>
          </a:p>
          <a:p>
            <a:pPr algn="ctr"/>
            <a:r>
              <a:rPr lang="es-ES" sz="1400" dirty="0">
                <a:latin typeface="Arial"/>
                <a:cs typeface="Segoe UI"/>
              </a:rPr>
              <a:t>​</a:t>
            </a:r>
            <a:endParaRPr lang="es-ES" sz="1400" dirty="0">
              <a:latin typeface="Arial"/>
              <a:cs typeface="Arial"/>
            </a:endParaRPr>
          </a:p>
          <a:p>
            <a:pPr algn="ctr"/>
            <a:r>
              <a:rPr lang="es-ES" sz="1400" dirty="0">
                <a:latin typeface="Arial"/>
                <a:cs typeface="Segoe UI"/>
              </a:rPr>
              <a:t>Integrante: </a:t>
            </a:r>
            <a:r>
              <a:rPr lang="en-US" sz="1400" dirty="0">
                <a:latin typeface="Arial"/>
                <a:cs typeface="Segoe UI"/>
              </a:rPr>
              <a:t>​</a:t>
            </a:r>
          </a:p>
          <a:p>
            <a:pPr algn="ctr"/>
            <a:endParaRPr lang="es-ES" sz="1400" dirty="0">
              <a:latin typeface="Arial"/>
              <a:cs typeface="Segoe UI"/>
            </a:endParaRPr>
          </a:p>
          <a:p>
            <a:pPr algn="ctr"/>
            <a:r>
              <a:rPr lang="es-ES" sz="1400" dirty="0">
                <a:latin typeface="Arial"/>
                <a:cs typeface="Segoe UI"/>
              </a:rPr>
              <a:t>Reynaldo Felipe Morales Silva</a:t>
            </a:r>
            <a:r>
              <a:rPr lang="en-US" sz="1400" dirty="0">
                <a:latin typeface="Arial"/>
                <a:cs typeface="Segoe UI"/>
              </a:rPr>
              <a:t>​</a:t>
            </a:r>
          </a:p>
          <a:p>
            <a:pPr algn="ctr"/>
            <a:endParaRPr lang="es-MX" sz="1400">
              <a:latin typeface="Arial"/>
              <a:cs typeface="Arial"/>
            </a:endParaRPr>
          </a:p>
          <a:p>
            <a:pPr algn="ctr"/>
            <a:r>
              <a:rPr lang="es-ES" sz="1400" dirty="0">
                <a:latin typeface="Arial"/>
                <a:cs typeface="Segoe UI"/>
              </a:rPr>
              <a:t>Carrera: Ingeniería en Sistemas Computacionales</a:t>
            </a:r>
            <a:r>
              <a:rPr lang="en-US" sz="1400" dirty="0">
                <a:latin typeface="Arial"/>
                <a:cs typeface="Segoe UI"/>
              </a:rPr>
              <a:t>​</a:t>
            </a:r>
          </a:p>
          <a:p>
            <a:pPr algn="ctr"/>
            <a:r>
              <a:rPr lang="es-ES" sz="1400" dirty="0">
                <a:latin typeface="Arial"/>
                <a:cs typeface="Segoe UI"/>
              </a:rPr>
              <a:t>​</a:t>
            </a:r>
          </a:p>
          <a:p>
            <a:pPr algn="ctr"/>
            <a:r>
              <a:rPr lang="es-ES" sz="1400" dirty="0">
                <a:latin typeface="Arial"/>
                <a:cs typeface="Segoe UI"/>
              </a:rPr>
              <a:t>Docente: Ing. Francisco Javier Mingo Velázquez</a:t>
            </a:r>
          </a:p>
          <a:p>
            <a:pPr algn="ctr"/>
            <a:r>
              <a:rPr lang="es-ES" sz="1400">
                <a:latin typeface="Arial"/>
                <a:cs typeface="Segoe UI"/>
              </a:rPr>
              <a:t>Fecha:  19 de abril del 2026</a:t>
            </a:r>
          </a:p>
        </p:txBody>
      </p:sp>
      <p:pic>
        <p:nvPicPr>
          <p:cNvPr id="5" name="Imagen 4" descr="Imagen que contiene Logotipo&#10;&#10;El contenido generado por IA puede ser incorrecto.">
            <a:extLst>
              <a:ext uri="{FF2B5EF4-FFF2-40B4-BE49-F238E27FC236}">
                <a16:creationId xmlns:a16="http://schemas.microsoft.com/office/drawing/2014/main" id="{FB1911C2-9242-8CDD-F6F2-82D69EF08773}"/>
              </a:ext>
            </a:extLst>
          </p:cNvPr>
          <p:cNvPicPr>
            <a:picLocks noChangeAspect="1"/>
          </p:cNvPicPr>
          <p:nvPr/>
        </p:nvPicPr>
        <p:blipFill>
          <a:blip r:embed="rId2"/>
          <a:stretch>
            <a:fillRect/>
          </a:stretch>
        </p:blipFill>
        <p:spPr>
          <a:xfrm>
            <a:off x="694785" y="735222"/>
            <a:ext cx="3700014" cy="1131858"/>
          </a:xfrm>
          <a:prstGeom prst="rect">
            <a:avLst/>
          </a:prstGeom>
        </p:spPr>
      </p:pic>
      <p:pic>
        <p:nvPicPr>
          <p:cNvPr id="6" name="Imagen 5" descr="Logotipo, nombre de la empresa&#10;&#10;El contenido generado por IA puede ser incorrecto.">
            <a:extLst>
              <a:ext uri="{FF2B5EF4-FFF2-40B4-BE49-F238E27FC236}">
                <a16:creationId xmlns:a16="http://schemas.microsoft.com/office/drawing/2014/main" id="{6307CE53-6CEB-8234-F873-7FADA65A592C}"/>
              </a:ext>
            </a:extLst>
          </p:cNvPr>
          <p:cNvPicPr>
            <a:picLocks noChangeAspect="1"/>
          </p:cNvPicPr>
          <p:nvPr/>
        </p:nvPicPr>
        <p:blipFill>
          <a:blip r:embed="rId3"/>
          <a:stretch>
            <a:fillRect/>
          </a:stretch>
        </p:blipFill>
        <p:spPr>
          <a:xfrm>
            <a:off x="5401753" y="821486"/>
            <a:ext cx="2265513" cy="959330"/>
          </a:xfrm>
          <a:prstGeom prst="rect">
            <a:avLst/>
          </a:prstGeom>
        </p:spPr>
      </p:pic>
      <p:pic>
        <p:nvPicPr>
          <p:cNvPr id="7" name="Imagen 6" descr="Diagrama&#10;&#10;El contenido generado por IA puede ser incorrecto.">
            <a:extLst>
              <a:ext uri="{FF2B5EF4-FFF2-40B4-BE49-F238E27FC236}">
                <a16:creationId xmlns:a16="http://schemas.microsoft.com/office/drawing/2014/main" id="{CBA91D2A-2382-43CB-BAF9-49C1F0F3E39D}"/>
              </a:ext>
            </a:extLst>
          </p:cNvPr>
          <p:cNvPicPr>
            <a:picLocks noChangeAspect="1"/>
          </p:cNvPicPr>
          <p:nvPr/>
        </p:nvPicPr>
        <p:blipFill>
          <a:blip r:embed="rId4"/>
          <a:stretch>
            <a:fillRect/>
          </a:stretch>
        </p:blipFill>
        <p:spPr>
          <a:xfrm>
            <a:off x="9308172" y="754002"/>
            <a:ext cx="1396941" cy="950524"/>
          </a:xfrm>
          <a:prstGeom prst="rect">
            <a:avLst/>
          </a:prstGeom>
        </p:spPr>
      </p:pic>
    </p:spTree>
    <p:extLst>
      <p:ext uri="{BB962C8B-B14F-4D97-AF65-F5344CB8AC3E}">
        <p14:creationId xmlns:p14="http://schemas.microsoft.com/office/powerpoint/2010/main" val="2406273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0D2D9AB-5F12-78ED-9AFA-C54E477E4E42}"/>
              </a:ext>
            </a:extLst>
          </p:cNvPr>
          <p:cNvSpPr>
            <a:spLocks noGrp="1"/>
          </p:cNvSpPr>
          <p:nvPr>
            <p:ph type="title"/>
          </p:nvPr>
        </p:nvSpPr>
        <p:spPr>
          <a:xfrm>
            <a:off x="686834" y="1153572"/>
            <a:ext cx="3200400" cy="4461163"/>
          </a:xfrm>
        </p:spPr>
        <p:txBody>
          <a:bodyPr>
            <a:normAutofit/>
          </a:bodyPr>
          <a:lstStyle/>
          <a:p>
            <a:r>
              <a:rPr lang="es-ES" sz="3400">
                <a:solidFill>
                  <a:srgbClr val="FFFFFF"/>
                </a:solidFill>
              </a:rPr>
              <a:t>INTRODUCCION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9D31DC3F-A5FE-A644-7963-7238096F663C}"/>
              </a:ext>
            </a:extLst>
          </p:cNvPr>
          <p:cNvSpPr>
            <a:spLocks noGrp="1"/>
          </p:cNvSpPr>
          <p:nvPr>
            <p:ph idx="1"/>
          </p:nvPr>
        </p:nvSpPr>
        <p:spPr>
          <a:xfrm>
            <a:off x="4447308" y="591344"/>
            <a:ext cx="6906491" cy="5585619"/>
          </a:xfrm>
        </p:spPr>
        <p:txBody>
          <a:bodyPr vert="horz" lIns="91440" tIns="45720" rIns="91440" bIns="45720" rtlCol="0" anchor="ctr">
            <a:normAutofit/>
          </a:bodyPr>
          <a:lstStyle/>
          <a:p>
            <a:pPr algn="just">
              <a:buNone/>
            </a:pPr>
            <a:r>
              <a:rPr lang="es-ES" dirty="0">
                <a:ea typeface="+mn-lt"/>
                <a:cs typeface="+mn-lt"/>
              </a:rPr>
              <a:t>En la presente práctica se llevó a cabo la instalación y configuración de un entorno de desarrollo para la creación de una aplicación web local denominada </a:t>
            </a:r>
            <a:r>
              <a:rPr lang="es-ES" b="1" dirty="0">
                <a:ea typeface="+mn-lt"/>
                <a:cs typeface="+mn-lt"/>
              </a:rPr>
              <a:t>“Pizzas </a:t>
            </a:r>
            <a:r>
              <a:rPr lang="es-ES" b="1" dirty="0" err="1">
                <a:ea typeface="+mn-lt"/>
                <a:cs typeface="+mn-lt"/>
              </a:rPr>
              <a:t>Kids</a:t>
            </a:r>
            <a:r>
              <a:rPr lang="es-ES" b="1" dirty="0">
                <a:ea typeface="+mn-lt"/>
                <a:cs typeface="+mn-lt"/>
              </a:rPr>
              <a:t>”</a:t>
            </a:r>
            <a:r>
              <a:rPr lang="es-ES" dirty="0">
                <a:ea typeface="+mn-lt"/>
                <a:cs typeface="+mn-lt"/>
              </a:rPr>
              <a:t>, orientada a la gestión y visualización de productos de una pizzería. El objetivo principal fue preparar correctamente las herramientas necesarias para desarrollar, ejecutar y probar una aplicación web en un entorno local, utilizando tecnologías modernas como Angular, HTML, CSS y JavaScript.</a:t>
            </a:r>
            <a:endParaRPr lang="es-ES" dirty="0"/>
          </a:p>
          <a:p>
            <a:pPr marL="0" indent="0">
              <a:buNone/>
            </a:pPr>
            <a:endParaRPr lang="es-ES" dirty="0"/>
          </a:p>
        </p:txBody>
      </p:sp>
    </p:spTree>
    <p:extLst>
      <p:ext uri="{BB962C8B-B14F-4D97-AF65-F5344CB8AC3E}">
        <p14:creationId xmlns:p14="http://schemas.microsoft.com/office/powerpoint/2010/main" val="682725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FACABA1-BF19-2632-B7E1-C0876F775499}"/>
              </a:ext>
            </a:extLst>
          </p:cNvPr>
          <p:cNvSpPr>
            <a:spLocks noGrp="1"/>
          </p:cNvSpPr>
          <p:nvPr>
            <p:ph type="title"/>
          </p:nvPr>
        </p:nvSpPr>
        <p:spPr>
          <a:xfrm>
            <a:off x="686834" y="1153572"/>
            <a:ext cx="3200400" cy="4461163"/>
          </a:xfrm>
        </p:spPr>
        <p:txBody>
          <a:bodyPr>
            <a:normAutofit/>
          </a:bodyPr>
          <a:lstStyle/>
          <a:p>
            <a:r>
              <a:rPr lang="es-ES" sz="3400">
                <a:solidFill>
                  <a:srgbClr val="FFFFFF"/>
                </a:solidFill>
              </a:rPr>
              <a:t>JUSTIFICACIÓN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21D3F511-1C5B-5219-F182-8CF30B129957}"/>
              </a:ext>
            </a:extLst>
          </p:cNvPr>
          <p:cNvSpPr>
            <a:spLocks noGrp="1"/>
          </p:cNvSpPr>
          <p:nvPr>
            <p:ph idx="1"/>
          </p:nvPr>
        </p:nvSpPr>
        <p:spPr>
          <a:xfrm>
            <a:off x="4447308" y="591344"/>
            <a:ext cx="6906491" cy="5585619"/>
          </a:xfrm>
        </p:spPr>
        <p:txBody>
          <a:bodyPr vert="horz" lIns="91440" tIns="45720" rIns="91440" bIns="45720" rtlCol="0" anchor="ctr">
            <a:normAutofit/>
          </a:bodyPr>
          <a:lstStyle/>
          <a:p>
            <a:pPr algn="just">
              <a:buNone/>
            </a:pPr>
            <a:r>
              <a:rPr lang="es-ES" sz="2200">
                <a:ea typeface="+mn-lt"/>
                <a:cs typeface="+mn-lt"/>
              </a:rPr>
              <a:t>La realización de esta práctica es fundamental para el desarrollo de competencias en el área de programación y desarrollo web, ya que permite al estudiante conocer e implementar el proceso de instalación y configuración de un entorno de trabajo adecuado. Esto es esencial para garantizar el correcto funcionamiento de las herramientas utilizadas en la creación de aplicaciones web. El desarrollo de la aplicación local </a:t>
            </a:r>
            <a:r>
              <a:rPr lang="es-ES" sz="2200" b="1">
                <a:ea typeface="+mn-lt"/>
                <a:cs typeface="+mn-lt"/>
              </a:rPr>
              <a:t>“Pizzas </a:t>
            </a:r>
            <a:r>
              <a:rPr lang="es-ES" sz="2200" b="1" err="1">
                <a:ea typeface="+mn-lt"/>
                <a:cs typeface="+mn-lt"/>
              </a:rPr>
              <a:t>Kids</a:t>
            </a:r>
            <a:r>
              <a:rPr lang="es-ES" sz="2200" b="1">
                <a:ea typeface="+mn-lt"/>
                <a:cs typeface="+mn-lt"/>
              </a:rPr>
              <a:t>”</a:t>
            </a:r>
            <a:r>
              <a:rPr lang="es-ES" sz="2200">
                <a:ea typeface="+mn-lt"/>
                <a:cs typeface="+mn-lt"/>
              </a:rPr>
              <a:t> se justifica como un ejercicio práctico que simula un caso real, permitiendo aplicar conocimientos teóricos en un proyecto funcional. A través de esta actividad, se fortalecen habilidades como la resolución de problemas, el manejo de tecnologías modernas (como Angular) y la estructuración de interfaces web.</a:t>
            </a:r>
            <a:endParaRPr lang="es-ES" sz="2200"/>
          </a:p>
          <a:p>
            <a:pPr>
              <a:buNone/>
            </a:pPr>
            <a:endParaRPr lang="es-ES" sz="2200"/>
          </a:p>
        </p:txBody>
      </p:sp>
    </p:spTree>
    <p:extLst>
      <p:ext uri="{BB962C8B-B14F-4D97-AF65-F5344CB8AC3E}">
        <p14:creationId xmlns:p14="http://schemas.microsoft.com/office/powerpoint/2010/main" val="1900447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6D2096-A3D8-B632-E18A-A2B23FB7436D}"/>
              </a:ext>
            </a:extLst>
          </p:cNvPr>
          <p:cNvSpPr>
            <a:spLocks noGrp="1"/>
          </p:cNvSpPr>
          <p:nvPr>
            <p:ph type="title"/>
          </p:nvPr>
        </p:nvSpPr>
        <p:spPr>
          <a:xfrm>
            <a:off x="8079978" y="741391"/>
            <a:ext cx="3369234" cy="1616203"/>
          </a:xfrm>
        </p:spPr>
        <p:txBody>
          <a:bodyPr anchor="b">
            <a:normAutofit/>
          </a:bodyPr>
          <a:lstStyle/>
          <a:p>
            <a:r>
              <a:rPr lang="es-ES" sz="3200"/>
              <a:t>OBJETIVO</a:t>
            </a:r>
          </a:p>
        </p:txBody>
      </p:sp>
      <p:pic>
        <p:nvPicPr>
          <p:cNvPr id="5" name="Picture 4" descr="Persona viendo un teléfono vacío">
            <a:extLst>
              <a:ext uri="{FF2B5EF4-FFF2-40B4-BE49-F238E27FC236}">
                <a16:creationId xmlns:a16="http://schemas.microsoft.com/office/drawing/2014/main" id="{5EDCACC3-1379-2432-E8B7-9F0D48D061FF}"/>
              </a:ext>
            </a:extLst>
          </p:cNvPr>
          <p:cNvPicPr>
            <a:picLocks noChangeAspect="1"/>
          </p:cNvPicPr>
          <p:nvPr/>
        </p:nvPicPr>
        <p:blipFill>
          <a:blip r:embed="rId2"/>
          <a:srcRect l="28127" r="-10" b="-10"/>
          <a:stretch>
            <a:fillRect/>
          </a:stretch>
        </p:blipFill>
        <p:spPr>
          <a:xfrm>
            <a:off x="20" y="10"/>
            <a:ext cx="7390243" cy="6857990"/>
          </a:xfrm>
          <a:prstGeom prst="rect">
            <a:avLst/>
          </a:prstGeom>
        </p:spPr>
      </p:pic>
      <p:sp>
        <p:nvSpPr>
          <p:cNvPr id="9" name="Rectangle 8">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879677" y="2347416"/>
            <a:ext cx="1630908" cy="7390262"/>
          </a:xfrm>
          <a:prstGeom prst="rect">
            <a:avLst/>
          </a:prstGeom>
          <a:gradFill>
            <a:gsLst>
              <a:gs pos="0">
                <a:schemeClr val="accent5"/>
              </a:gs>
              <a:gs pos="47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1919061" y="1919060"/>
            <a:ext cx="6854280" cy="3016159"/>
          </a:xfrm>
          <a:prstGeom prst="rect">
            <a:avLst/>
          </a:prstGeom>
          <a:gradFill flip="none" rotWithShape="1">
            <a:gsLst>
              <a:gs pos="0">
                <a:schemeClr val="accent5"/>
              </a:gs>
              <a:gs pos="47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461657" y="4425055"/>
            <a:ext cx="2928605" cy="2432945"/>
          </a:xfrm>
          <a:prstGeom prst="rect">
            <a:avLst/>
          </a:prstGeom>
          <a:gradFill flip="none" rotWithShape="1">
            <a:gsLst>
              <a:gs pos="0">
                <a:schemeClr val="accent2"/>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 name="Marcador de contenido 2">
            <a:extLst>
              <a:ext uri="{FF2B5EF4-FFF2-40B4-BE49-F238E27FC236}">
                <a16:creationId xmlns:a16="http://schemas.microsoft.com/office/drawing/2014/main" id="{5C4B71C1-ED9B-B572-1105-292EAE8EF6C0}"/>
              </a:ext>
            </a:extLst>
          </p:cNvPr>
          <p:cNvSpPr>
            <a:spLocks noGrp="1"/>
          </p:cNvSpPr>
          <p:nvPr>
            <p:ph idx="1"/>
          </p:nvPr>
        </p:nvSpPr>
        <p:spPr>
          <a:xfrm>
            <a:off x="8079978" y="2533476"/>
            <a:ext cx="3369234" cy="3447832"/>
          </a:xfrm>
        </p:spPr>
        <p:txBody>
          <a:bodyPr vert="horz" lIns="91440" tIns="45720" rIns="91440" bIns="45720" rtlCol="0" anchor="t">
            <a:normAutofit/>
          </a:bodyPr>
          <a:lstStyle/>
          <a:p>
            <a:pPr marL="0" indent="0" algn="just">
              <a:buNone/>
            </a:pPr>
            <a:r>
              <a:rPr lang="es-ES" sz="2400">
                <a:ea typeface="+mn-lt"/>
                <a:cs typeface="+mn-lt"/>
              </a:rPr>
              <a:t>Configurar un entorno de desarrollo funcional que permita crear y ejecutar una aplicación web local para una pizzería, aplicando herramientas actuales de desarrollo web.</a:t>
            </a:r>
            <a:endParaRPr lang="es-ES" sz="2400"/>
          </a:p>
        </p:txBody>
      </p:sp>
    </p:spTree>
    <p:extLst>
      <p:ext uri="{BB962C8B-B14F-4D97-AF65-F5344CB8AC3E}">
        <p14:creationId xmlns:p14="http://schemas.microsoft.com/office/powerpoint/2010/main" val="3927012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4BE6B73-ABAE-200F-E98A-7A18AD623698}"/>
              </a:ext>
            </a:extLst>
          </p:cNvPr>
          <p:cNvSpPr>
            <a:spLocks noGrp="1"/>
          </p:cNvSpPr>
          <p:nvPr>
            <p:ph type="title"/>
          </p:nvPr>
        </p:nvSpPr>
        <p:spPr>
          <a:xfrm>
            <a:off x="761800" y="762001"/>
            <a:ext cx="5334197" cy="1708242"/>
          </a:xfrm>
        </p:spPr>
        <p:txBody>
          <a:bodyPr anchor="ctr">
            <a:normAutofit/>
          </a:bodyPr>
          <a:lstStyle/>
          <a:p>
            <a:r>
              <a:rPr lang="es-ES" sz="4000"/>
              <a:t>HERRAMIENTAS UTILIZADAS</a:t>
            </a:r>
          </a:p>
        </p:txBody>
      </p:sp>
      <p:sp>
        <p:nvSpPr>
          <p:cNvPr id="3" name="Marcador de contenido 2">
            <a:extLst>
              <a:ext uri="{FF2B5EF4-FFF2-40B4-BE49-F238E27FC236}">
                <a16:creationId xmlns:a16="http://schemas.microsoft.com/office/drawing/2014/main" id="{13799212-2FCB-47AD-581D-6E89B5340B25}"/>
              </a:ext>
            </a:extLst>
          </p:cNvPr>
          <p:cNvSpPr>
            <a:spLocks noGrp="1"/>
          </p:cNvSpPr>
          <p:nvPr>
            <p:ph idx="1"/>
          </p:nvPr>
        </p:nvSpPr>
        <p:spPr>
          <a:xfrm>
            <a:off x="761800" y="2470244"/>
            <a:ext cx="5334197" cy="3769835"/>
          </a:xfrm>
        </p:spPr>
        <p:txBody>
          <a:bodyPr vert="horz" lIns="91440" tIns="45720" rIns="91440" bIns="45720" rtlCol="0" anchor="ctr">
            <a:normAutofit/>
          </a:bodyPr>
          <a:lstStyle/>
          <a:p>
            <a:pPr>
              <a:buNone/>
            </a:pPr>
            <a:r>
              <a:rPr lang="es-ES" sz="2000">
                <a:ea typeface="+mn-lt"/>
                <a:cs typeface="+mn-lt"/>
              </a:rPr>
              <a:t>Las herramientas empleadas en esta práctica fueron:</a:t>
            </a:r>
          </a:p>
          <a:p>
            <a:pPr>
              <a:buFont typeface="Arial"/>
            </a:pPr>
            <a:r>
              <a:rPr lang="es-ES" sz="2000" b="1">
                <a:ea typeface="+mn-lt"/>
                <a:cs typeface="+mn-lt"/>
              </a:rPr>
              <a:t>Visual Studio Code</a:t>
            </a:r>
            <a:r>
              <a:rPr lang="es-ES" sz="2000">
                <a:ea typeface="+mn-lt"/>
                <a:cs typeface="+mn-lt"/>
              </a:rPr>
              <a:t> (editor de código) </a:t>
            </a:r>
          </a:p>
          <a:p>
            <a:pPr>
              <a:buFont typeface="Arial"/>
            </a:pPr>
            <a:r>
              <a:rPr lang="es-ES" sz="2000" b="1">
                <a:ea typeface="+mn-lt"/>
                <a:cs typeface="+mn-lt"/>
              </a:rPr>
              <a:t>Node.js</a:t>
            </a:r>
            <a:r>
              <a:rPr lang="es-ES" sz="2000">
                <a:ea typeface="+mn-lt"/>
                <a:cs typeface="+mn-lt"/>
              </a:rPr>
              <a:t> (entorno de ejecución) </a:t>
            </a:r>
          </a:p>
          <a:p>
            <a:pPr>
              <a:buFont typeface="Arial"/>
            </a:pPr>
            <a:r>
              <a:rPr lang="es-ES" sz="2000" b="1">
                <a:ea typeface="+mn-lt"/>
                <a:cs typeface="+mn-lt"/>
              </a:rPr>
              <a:t>Angular CLI</a:t>
            </a:r>
            <a:r>
              <a:rPr lang="es-ES" sz="2000">
                <a:ea typeface="+mn-lt"/>
                <a:cs typeface="+mn-lt"/>
              </a:rPr>
              <a:t> (herramienta de desarrollo Angular) </a:t>
            </a:r>
          </a:p>
          <a:p>
            <a:pPr>
              <a:buFont typeface="Arial"/>
            </a:pPr>
            <a:r>
              <a:rPr lang="es-ES" sz="2000" b="1">
                <a:ea typeface="+mn-lt"/>
                <a:cs typeface="+mn-lt"/>
              </a:rPr>
              <a:t>Navegador web</a:t>
            </a:r>
            <a:r>
              <a:rPr lang="es-ES" sz="2000">
                <a:ea typeface="+mn-lt"/>
                <a:cs typeface="+mn-lt"/>
              </a:rPr>
              <a:t> (Google Chrome) </a:t>
            </a:r>
          </a:p>
          <a:p>
            <a:pPr>
              <a:buFont typeface="Arial"/>
            </a:pPr>
            <a:r>
              <a:rPr lang="es-ES" sz="2000" b="1">
                <a:ea typeface="+mn-lt"/>
                <a:cs typeface="+mn-lt"/>
              </a:rPr>
              <a:t>Sistema operativo</a:t>
            </a:r>
            <a:r>
              <a:rPr lang="es-ES" sz="2000">
                <a:ea typeface="+mn-lt"/>
                <a:cs typeface="+mn-lt"/>
              </a:rPr>
              <a:t> (Windows)</a:t>
            </a:r>
          </a:p>
          <a:p>
            <a:pPr marL="0" indent="0">
              <a:buNone/>
            </a:pPr>
            <a:endParaRPr lang="es-ES" sz="2000"/>
          </a:p>
        </p:txBody>
      </p:sp>
      <p:pic>
        <p:nvPicPr>
          <p:cNvPr id="5" name="Picture 4" descr="Script de ordenador en una pantalla">
            <a:extLst>
              <a:ext uri="{FF2B5EF4-FFF2-40B4-BE49-F238E27FC236}">
                <a16:creationId xmlns:a16="http://schemas.microsoft.com/office/drawing/2014/main" id="{4AF7787F-B3E7-61F3-70F7-11E801D45A36}"/>
              </a:ext>
            </a:extLst>
          </p:cNvPr>
          <p:cNvPicPr>
            <a:picLocks noChangeAspect="1"/>
          </p:cNvPicPr>
          <p:nvPr/>
        </p:nvPicPr>
        <p:blipFill>
          <a:blip r:embed="rId2"/>
          <a:srcRect l="5638" r="42602" b="-3"/>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817790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A893540-4201-C96E-ED9A-0B29FA195667}"/>
              </a:ext>
            </a:extLst>
          </p:cNvPr>
          <p:cNvSpPr>
            <a:spLocks noGrp="1"/>
          </p:cNvSpPr>
          <p:nvPr>
            <p:ph type="title"/>
          </p:nvPr>
        </p:nvSpPr>
        <p:spPr>
          <a:xfrm>
            <a:off x="956826" y="1112969"/>
            <a:ext cx="3937298" cy="4166010"/>
          </a:xfrm>
        </p:spPr>
        <p:txBody>
          <a:bodyPr>
            <a:normAutofit/>
          </a:bodyPr>
          <a:lstStyle/>
          <a:p>
            <a:r>
              <a:rPr lang="es-ES">
                <a:solidFill>
                  <a:srgbClr val="FFFFFF"/>
                </a:solidFill>
              </a:rPr>
              <a:t>INSTALACION DE ENTORNO</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Marcador de contenido 2">
            <a:extLst>
              <a:ext uri="{FF2B5EF4-FFF2-40B4-BE49-F238E27FC236}">
                <a16:creationId xmlns:a16="http://schemas.microsoft.com/office/drawing/2014/main" id="{0B2A6A68-8E35-0B48-1476-50CC35FEDE3A}"/>
              </a:ext>
            </a:extLst>
          </p:cNvPr>
          <p:cNvSpPr>
            <a:spLocks noGrp="1"/>
          </p:cNvSpPr>
          <p:nvPr>
            <p:ph idx="1"/>
          </p:nvPr>
        </p:nvSpPr>
        <p:spPr>
          <a:xfrm>
            <a:off x="6096000" y="820880"/>
            <a:ext cx="5257799" cy="4889350"/>
          </a:xfrm>
        </p:spPr>
        <p:txBody>
          <a:bodyPr vert="horz" lIns="91440" tIns="45720" rIns="91440" bIns="45720" rtlCol="0" anchor="t">
            <a:normAutofit/>
          </a:bodyPr>
          <a:lstStyle/>
          <a:p>
            <a:pPr>
              <a:buNone/>
            </a:pPr>
            <a:r>
              <a:rPr lang="es-ES" b="1"/>
              <a:t>Instalación de Node.js</a:t>
            </a:r>
            <a:endParaRPr lang="es-ES"/>
          </a:p>
          <a:p>
            <a:pPr>
              <a:buFont typeface="Arial"/>
              <a:buChar char="•"/>
            </a:pPr>
            <a:r>
              <a:rPr lang="es-ES">
                <a:ea typeface="+mn-lt"/>
                <a:cs typeface="+mn-lt"/>
              </a:rPr>
              <a:t>Se descargó Node.js desde su página oficial. </a:t>
            </a:r>
            <a:endParaRPr lang="es-ES"/>
          </a:p>
          <a:p>
            <a:pPr>
              <a:buFont typeface="Arial"/>
              <a:buChar char="•"/>
            </a:pPr>
            <a:r>
              <a:rPr lang="es-ES">
                <a:ea typeface="+mn-lt"/>
                <a:cs typeface="+mn-lt"/>
              </a:rPr>
              <a:t>Se ejecutó el instalador siguiendo los pasos predeterminados. </a:t>
            </a:r>
            <a:endParaRPr lang="es-ES"/>
          </a:p>
          <a:p>
            <a:pPr>
              <a:buFont typeface="Arial"/>
              <a:buChar char="•"/>
            </a:pPr>
            <a:r>
              <a:rPr lang="es-ES">
                <a:ea typeface="+mn-lt"/>
                <a:cs typeface="+mn-lt"/>
              </a:rPr>
              <a:t>Se verificó la instalación con los comandos:</a:t>
            </a:r>
            <a:endParaRPr lang="es-ES"/>
          </a:p>
          <a:p>
            <a:pPr indent="0">
              <a:buNone/>
            </a:pPr>
            <a:r>
              <a:rPr lang="es-ES" dirty="0" err="1">
                <a:latin typeface="Consolas"/>
              </a:rPr>
              <a:t>node</a:t>
            </a:r>
            <a:r>
              <a:rPr lang="es-ES" dirty="0">
                <a:latin typeface="Consolas"/>
              </a:rPr>
              <a:t> -v</a:t>
            </a:r>
            <a:br>
              <a:rPr lang="es-ES" dirty="0">
                <a:latin typeface="Consolas"/>
              </a:rPr>
            </a:br>
            <a:r>
              <a:rPr lang="es-ES" dirty="0" err="1">
                <a:latin typeface="Consolas"/>
              </a:rPr>
              <a:t>npm</a:t>
            </a:r>
            <a:r>
              <a:rPr lang="es-ES" dirty="0">
                <a:latin typeface="Consolas"/>
              </a:rPr>
              <a:t> -v</a:t>
            </a:r>
            <a:endParaRPr lang="es-ES" dirty="0"/>
          </a:p>
          <a:p>
            <a:pPr marL="0" indent="0">
              <a:buNone/>
            </a:pPr>
            <a:endParaRPr lang="es-ES" dirty="0"/>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716953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A99050EE-26AF-4253-BD50-F0FCD965A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284" y="575361"/>
            <a:ext cx="5707277" cy="5707277"/>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2B936BB-31EC-AF47-92B7-3D5EFB789175}"/>
              </a:ext>
            </a:extLst>
          </p:cNvPr>
          <p:cNvSpPr>
            <a:spLocks noGrp="1"/>
          </p:cNvSpPr>
          <p:nvPr>
            <p:ph type="title"/>
          </p:nvPr>
        </p:nvSpPr>
        <p:spPr>
          <a:xfrm>
            <a:off x="838200" y="1748452"/>
            <a:ext cx="4974771" cy="3587786"/>
          </a:xfrm>
        </p:spPr>
        <p:txBody>
          <a:bodyPr>
            <a:normAutofit/>
          </a:bodyPr>
          <a:lstStyle/>
          <a:p>
            <a:pPr algn="ctr"/>
            <a:r>
              <a:rPr lang="es-ES">
                <a:solidFill>
                  <a:schemeClr val="bg1"/>
                </a:solidFill>
              </a:rPr>
              <a:t>INSTALACIÓN DE ANGULAR CLI</a:t>
            </a:r>
          </a:p>
        </p:txBody>
      </p:sp>
      <p:grpSp>
        <p:nvGrpSpPr>
          <p:cNvPr id="12"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3117" y="1193254"/>
            <a:ext cx="1291642" cy="429215"/>
            <a:chOff x="2504802" y="1755501"/>
            <a:chExt cx="1598829" cy="531293"/>
          </a:xfrm>
          <a:solidFill>
            <a:schemeClr val="bg1"/>
          </a:solidFill>
        </p:grpSpPr>
        <p:sp>
          <p:nvSpPr>
            <p:cNvPr id="13" name="Freeform: Shape 12">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16" name="Graphic 212">
            <a:extLst>
              <a:ext uri="{FF2B5EF4-FFF2-40B4-BE49-F238E27FC236}">
                <a16:creationId xmlns:a16="http://schemas.microsoft.com/office/drawing/2014/main" id="{D0C78466-EB6E-45A0-99A6-A00789ACD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E99F76E4-5DFD-4DBE-B042-66FBCD118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solidFill>
        </p:grpSpPr>
        <p:sp>
          <p:nvSpPr>
            <p:cNvPr id="21" name="Freeform: Shape 20">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191" name="Graphic 4">
            <a:extLst>
              <a:ext uri="{FF2B5EF4-FFF2-40B4-BE49-F238E27FC236}">
                <a16:creationId xmlns:a16="http://schemas.microsoft.com/office/drawing/2014/main" id="{773717CC-ECEE-4ABF-BA61-C59F468017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alpha val="60000"/>
            </a:schemeClr>
          </a:solidFill>
        </p:grpSpPr>
        <p:sp>
          <p:nvSpPr>
            <p:cNvPr id="192" name="Freeform: Shape 191">
              <a:extLst>
                <a:ext uri="{FF2B5EF4-FFF2-40B4-BE49-F238E27FC236}">
                  <a16:creationId xmlns:a16="http://schemas.microsoft.com/office/drawing/2014/main" id="{9A4FAE41-62DF-4B8E-BD66-8EC206E0E3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564C7F1F-5546-40DC-A16B-C9A3E4577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45583216-FC24-4B75-9703-DBEC401FF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FD0A70D-2E7E-4048-8145-0F45EDBBC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B703C78E-D176-4455-B7B5-2DB4F418D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AD23B98E-D1FB-4BD9-BA4A-060BC8266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C1541992-EEDB-4D6B-BDA9-B66E58A17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08072B3B-B852-4186-ACFE-F61425132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7B5DD2CA-BCBA-4F3E-B472-84006768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C7335DFE-05E4-4D45-B035-1D85E7648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ADCF9375-A092-491A-960D-A4DBB376C3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95341599-7E99-490F-9AF8-07EAE5C8D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E1C55EB0-818A-46E6-8D53-5503100290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319B036C-5BD8-4F3B-8935-96D50F410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A8445880-106C-4DC8-A250-D132F0D6F3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952AA1DD-5DBE-43CD-9B85-63C762692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2A412466-ED73-4944-83CE-224B1769C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807E195A-10DB-494C-A547-E1D0C6F61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4CD4AECE-734D-4B90-984F-B2ABFA2B6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2927072E-8001-4AD1-A4C4-2EDBA3BF8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499D6F50-E593-46A3-81D8-73389276B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7A96E600-84B4-452B-AE40-295FC5807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CBBA17AC-C1AB-4BFC-A051-457275D1D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488E850C-90D5-4D0F-A57D-7809327EF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9F98D808-AB13-4D8D-B4C5-9D3215346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95AFFBC0-FF37-4117-86FA-21ABDA17AB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ED0AC42A-17B0-4154-968C-CAE2A04C2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4A7A31A0-8490-4B9D-B9CC-7FF28053E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8188899C-6A74-43D8-B36C-F86B278C8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1537EAA6-95B6-4674-A7B9-40F9AB7F59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F4B29507-C08F-4764-B703-0EB33A0FAC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4200E500-6A99-47FC-A30F-FA4C85DA8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9558677C-76AD-451F-AEEE-C5FEE4179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79E472E5-A81A-44E7-AEBA-C3A593497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5CD54F54-9E41-4635-A533-6CC6515E1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B22D6F46-74C0-49D9-8CD8-BC125E973D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C6FAA6EC-EDF6-4522-ACD8-8D4F7FF872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5F8364DC-ED1A-482D-A418-7941B199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1896D361-70A8-4528-940B-F306550F8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4D1CB00A-0CE1-4E25-ADCE-9562845F5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E1B6761E-B7C6-4218-B95F-F6DEC0066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CA081177-DAC3-4667-91A1-4CC885D4A1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435007DC-BB8D-43BA-9598-AE79AA262E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46628B8A-02EC-44EF-B52C-5EBAFBCF9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2DACEC99-8F4C-495C-8EAA-670A3A02E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C8EFEAD4-1425-4357-9D8A-F326DABC6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FDA70E94-A082-47D4-B4F8-142AEF1DC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10E96E8A-1EEA-4F1D-8CFE-12DC9B9E7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B12D7CC4-A548-4FF7-A6B2-9151CFA9E3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CB3F1C68-B597-4669-87F8-C80124ABE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A57037D2-0958-4F34-815F-C8CA7F86A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30AF3969-3F11-4157-B4B9-33B131462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51D613E3-18F5-4426-ADEB-DEC123E16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1DC25548-A3A9-4018-A29B-6972D353F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7EDE6372-94D2-435D-BD43-A20072D8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729575A6-77E2-4199-8F0A-27C89330A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12EB506D-59AD-4011-80F8-36A2BDB95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92FD46FA-14EB-46A2-B4A3-ECD1F49BAC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1CD84E07-49A9-40E3-B34C-91C156C9C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F3090306-C384-44A0-8C38-77397133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3515E97E-31A4-4273-AB55-8EAD74CB9E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792F63CA-0494-43E2-A0AA-37C35C832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5389A040-E4CC-4CE7-8B9F-40ECA9ACE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1BA51B23-705C-49BE-B606-8A9B623E0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B16EF17A-F451-4B5B-9052-33A9116E9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1B20B7D1-27D7-4E1A-A317-E9E7A105A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1E3FADAF-FD1D-45B2-A40D-EBDD536E75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301257BA-BCE2-4479-A04F-A9DBFAF92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619D0ABC-04D9-405A-A52F-5EEC01762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123AE5C7-608A-47A7-B7A1-55662B70B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957BDA1A-3081-45EB-A31E-3F98EC6DC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683DDA50-C794-4DC5-8297-CFDEB8DCB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FA42024A-A832-4635-9CE6-B968232CE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564D00AA-3E68-4F56-80A0-08D5DFFB6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D988A711-E3E8-4172-AFE1-60E93FF10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7A89FF34-EE34-461C-A3EF-73AC3801B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80D55E43-BE59-444D-B32B-9C0306A126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639C823F-B16B-4DF7-BA6E-0D832AAB2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2E623C08-172F-41EA-90CB-59ED0D583B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94C0577F-0FF9-47D5-8C6D-FC7B4CC3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30C80E9D-7909-4C52-ACAD-80FF874F9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2B9598CE-4E74-4A54-BAB8-59379D2114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E7188EAA-47E1-4B73-8682-C74A0421B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36900E8B-61F2-411F-B29F-A9CDC6E81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0A25598A-334A-487D-9604-4753EAE81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C8DBE472-045A-491C-AB7C-4153EE2B0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2F6DD374-5D5F-48BB-8135-8F37EE2C2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386B8A5A-00D0-4291-937B-931B3F19CD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89C10BFA-8067-495D-810E-1F4085F7B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51F94E69-8294-4AB3-A457-3BD4ACF085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AD2859C5-45C5-4EE2-8272-0FA7A0235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14AFB321-1B9D-41AF-9686-8C689A3F4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5C4403F4-D893-4E4C-8DFE-E79AE6A62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BA894316-677B-4B51-AF19-0D3FAF96A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07FDE9AD-8F5A-44B0-AC7E-30148150D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A4D0E6BA-489D-4EA4-994E-225F7D078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7EDFBCCB-EC92-4860-BBDB-2EC6355FE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459DBA8E-2EB0-4C51-A161-2C595B89D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FB1BA285-9A95-49B7-A098-F38400D92B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D29C405E-90F5-4AB5-8B5F-3CA2F1815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F7214FFD-3321-412F-9CA5-4BC6E874F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5F16C3D8-64A1-443D-92A7-EA97518A6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7E4EFAB9-436A-4B6B-A16B-8DA3F614A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037DDFC3-D7A5-443D-8417-D723296DA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253AC142-F4B4-47E8-BBEE-F7D0F8547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890AAA82-94E2-41D0-AE92-9C87195CC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FD33B856-EF4E-40FC-BDA0-9E26203D0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24AEBF58-C8A2-4D00-9AFB-B5012AEA36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21270E55-4211-4529-BDC3-29B80BDF5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16DD7E91-EFBB-4DD7-B30F-4A13C20BE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96260F31-66FB-4E2C-801E-701C2B859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B5FEE1C9-3961-4400-AD3E-B5AD93A47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34E1BE05-269F-4A13-99FE-2A973A0E77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2D591FBD-65C6-46C4-AF19-875D652DC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85F7E635-CB45-4346-BBFB-10FF0576A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3BDAC885-F0B3-4D66-8587-438465298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3427A7E1-71C9-42CC-9CAF-53642DC4D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20BF60C4-2E5D-473E-96B6-D22BB8536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C4703732-1088-4448-ACC0-D8BD901B2C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6777D706-23BF-4962-98D3-D5AE7DF4E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783FF777-4C59-44D0-9441-2B40E0A70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2037F33C-65F4-44B6-9CB2-D32D1552C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E73BA403-F3FD-4D76-A516-5698375D6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0AF0D29B-415A-4327-A4B4-B5DC8F0AC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374A9388-F55E-4F94-817D-5BFF0B59E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30C52183-F223-4E0A-B713-C91589CEB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A6BEE030-DC6B-4CB1-A01B-95CC82552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2D41CF67-37BB-443C-85CF-2A05174FD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65A449CF-396F-45B8-B268-6824A4E89B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9C20A7EF-7013-4D6C-ADD8-868A931DF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F787692C-3BA9-4D4D-82F8-E497797AAE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A6D539D6-A55E-40F5-83AC-A77340524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D4D7922F-CA55-4202-B99F-ED303E7044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4120C846-A602-4B6C-9C07-11D2B0F8A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84B5D527-4684-45F5-84CE-73642492D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FF31CF21-8169-4D45-A115-9CF8D3718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DA8762B9-9CD8-4676-93F5-6C9358A94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A183E80A-70D1-4F52-A92D-D396648CC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83FBB0F7-E17E-4890-9B66-3625BA1468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708E7BF1-2D4D-44AB-A5CC-0ED91B846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4B468C4E-6F63-4172-AE1F-8965744DB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974C7149-F567-4D55-8F48-511DCF3A8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54A551FA-7E10-4D28-9A10-B9A06C0780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1D04F3C0-CE2C-4B8D-A5BD-0E994FD8D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D2EA9230-DD52-48A9-B268-56744EA506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043A05F5-A8CF-4D01-AF12-95D1ECAE4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1F47C6BC-BD1A-4291-B018-05E5A72E4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E5B89844-FD17-4048-A3F5-35E390C6E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B5593F34-8B0E-4D34-9781-B594E2F5D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4428E4BB-2263-4D19-8254-C9B54B856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2366216E-6EA2-4872-8370-C5EC22520F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D66F8E3F-BF33-4F99-A1F0-EB5885BF2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EB506747-ED9D-43EA-BD67-DF7971849E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AC803CE8-FFF7-40EA-AF62-102724C32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7EF6FFCA-06CC-4395-AEB0-425719A42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0D95F285-AAC0-4F32-8665-2677878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8DFCCA2E-BF12-4D26-A5A4-A03387546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2ABEAC60-6AC3-4D6A-95F9-2E79F6BE0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FA6015B7-49FE-4729-B2F4-585F0F305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D611DEB1-76FE-4625-9449-88E52D15F4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97F031C1-1AA7-4CA7-ADD3-E0577626E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96F5D0CB-22E6-4536-8403-F42527F31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A32718AB-7401-4F66-9C77-E06C3CF7C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85B6B5F1-D1E4-45A3-8117-348D02D2A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534869FD-184C-42DB-B9DA-293DB67E5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A781504F-CAFD-4201-B288-8B4A809B4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D9FC8348-2BA6-4631-8AA7-D63CD898C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C1AF95A2-64EA-45E2-A43B-1EBD56910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CFC80050-240D-434A-BFCB-DE4DA4FAF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3" name="Marcador de contenido 2">
            <a:extLst>
              <a:ext uri="{FF2B5EF4-FFF2-40B4-BE49-F238E27FC236}">
                <a16:creationId xmlns:a16="http://schemas.microsoft.com/office/drawing/2014/main" id="{950DA90D-A5DD-F364-C21B-1710B465D322}"/>
              </a:ext>
            </a:extLst>
          </p:cNvPr>
          <p:cNvSpPr>
            <a:spLocks noGrp="1"/>
          </p:cNvSpPr>
          <p:nvPr>
            <p:ph idx="1"/>
          </p:nvPr>
        </p:nvSpPr>
        <p:spPr>
          <a:xfrm>
            <a:off x="6477270" y="1130846"/>
            <a:ext cx="4974771" cy="4351338"/>
          </a:xfrm>
        </p:spPr>
        <p:txBody>
          <a:bodyPr vert="horz" lIns="91440" tIns="45720" rIns="91440" bIns="45720" rtlCol="0">
            <a:normAutofit/>
          </a:bodyPr>
          <a:lstStyle/>
          <a:p>
            <a:pPr>
              <a:buNone/>
            </a:pPr>
            <a:r>
              <a:rPr lang="es-ES" sz="2600">
                <a:solidFill>
                  <a:schemeClr val="bg1"/>
                </a:solidFill>
                <a:ea typeface="+mn-lt"/>
                <a:cs typeface="+mn-lt"/>
              </a:rPr>
              <a:t>Se instaló Angular CLI de manera global con el siguiente comando:</a:t>
            </a:r>
            <a:endParaRPr lang="es-ES" sz="2600">
              <a:solidFill>
                <a:schemeClr val="bg1"/>
              </a:solidFill>
            </a:endParaRPr>
          </a:p>
          <a:p>
            <a:pPr>
              <a:buNone/>
            </a:pPr>
            <a:r>
              <a:rPr lang="es-ES" sz="2600">
                <a:solidFill>
                  <a:schemeClr val="bg1"/>
                </a:solidFill>
                <a:latin typeface="Consolas"/>
              </a:rPr>
              <a:t>npm install -g @angular/cli</a:t>
            </a:r>
            <a:endParaRPr lang="es-ES" sz="2600">
              <a:solidFill>
                <a:schemeClr val="bg1"/>
              </a:solidFill>
            </a:endParaRPr>
          </a:p>
          <a:p>
            <a:pPr>
              <a:buNone/>
            </a:pPr>
            <a:r>
              <a:rPr lang="es-ES" sz="2600">
                <a:solidFill>
                  <a:schemeClr val="bg1"/>
                </a:solidFill>
                <a:ea typeface="+mn-lt"/>
                <a:cs typeface="+mn-lt"/>
              </a:rPr>
              <a:t>Se verificó con:</a:t>
            </a:r>
            <a:endParaRPr lang="es-ES" sz="2600">
              <a:solidFill>
                <a:schemeClr val="bg1"/>
              </a:solidFill>
            </a:endParaRPr>
          </a:p>
          <a:p>
            <a:pPr>
              <a:buNone/>
            </a:pPr>
            <a:r>
              <a:rPr lang="es-ES" sz="2600">
                <a:solidFill>
                  <a:schemeClr val="bg1"/>
                </a:solidFill>
                <a:latin typeface="Consolas"/>
              </a:rPr>
              <a:t>ng version</a:t>
            </a:r>
            <a:endParaRPr lang="es-ES" sz="2600">
              <a:solidFill>
                <a:schemeClr val="bg1"/>
              </a:solidFill>
            </a:endParaRPr>
          </a:p>
          <a:p>
            <a:pPr marL="0" indent="0">
              <a:buNone/>
            </a:pPr>
            <a:r>
              <a:rPr lang="es-ES" sz="2600">
                <a:solidFill>
                  <a:schemeClr val="bg1"/>
                </a:solidFill>
              </a:rPr>
              <a:t>De esta manera es como se quedaria instalado bajo la terminal de nuestro pc.</a:t>
            </a:r>
          </a:p>
        </p:txBody>
      </p:sp>
    </p:spTree>
    <p:extLst>
      <p:ext uri="{BB962C8B-B14F-4D97-AF65-F5344CB8AC3E}">
        <p14:creationId xmlns:p14="http://schemas.microsoft.com/office/powerpoint/2010/main" val="3896650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5869387-1860-88C2-6567-81A098E56166}"/>
              </a:ext>
            </a:extLst>
          </p:cNvPr>
          <p:cNvSpPr>
            <a:spLocks noGrp="1"/>
          </p:cNvSpPr>
          <p:nvPr>
            <p:ph type="title"/>
          </p:nvPr>
        </p:nvSpPr>
        <p:spPr>
          <a:xfrm>
            <a:off x="645065" y="1463040"/>
            <a:ext cx="3796306" cy="2690949"/>
          </a:xfrm>
        </p:spPr>
        <p:txBody>
          <a:bodyPr anchor="t">
            <a:normAutofit/>
          </a:bodyPr>
          <a:lstStyle/>
          <a:p>
            <a:r>
              <a:rPr lang="es-ES" sz="4800"/>
              <a:t>CREACIÓN DEL PROYECTO</a:t>
            </a:r>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0A863E00-2A5D-0FCE-5CF0-F746E441BE1A}"/>
              </a:ext>
            </a:extLst>
          </p:cNvPr>
          <p:cNvSpPr>
            <a:spLocks noGrp="1"/>
          </p:cNvSpPr>
          <p:nvPr>
            <p:ph idx="1"/>
          </p:nvPr>
        </p:nvSpPr>
        <p:spPr>
          <a:xfrm>
            <a:off x="5656218" y="1463039"/>
            <a:ext cx="5542387" cy="4300447"/>
          </a:xfrm>
        </p:spPr>
        <p:txBody>
          <a:bodyPr vert="horz" lIns="91440" tIns="45720" rIns="91440" bIns="45720" rtlCol="0" anchor="t">
            <a:normAutofit/>
          </a:bodyPr>
          <a:lstStyle/>
          <a:p>
            <a:pPr>
              <a:buNone/>
            </a:pPr>
            <a:r>
              <a:rPr lang="es-ES" sz="2200">
                <a:ea typeface="+mn-lt"/>
                <a:cs typeface="+mn-lt"/>
              </a:rPr>
              <a:t>Se creó el proyecto con Angular CLI mediante el siguiente comando:</a:t>
            </a:r>
            <a:endParaRPr lang="es-ES" sz="2200"/>
          </a:p>
          <a:p>
            <a:pPr>
              <a:buNone/>
            </a:pPr>
            <a:r>
              <a:rPr lang="es-ES" sz="2200">
                <a:latin typeface="Consolas"/>
              </a:rPr>
              <a:t>ng new pizzas-kids</a:t>
            </a:r>
            <a:endParaRPr lang="es-ES" sz="2200"/>
          </a:p>
          <a:p>
            <a:pPr>
              <a:buNone/>
            </a:pPr>
            <a:r>
              <a:rPr lang="es-ES" sz="2200">
                <a:ea typeface="+mn-lt"/>
                <a:cs typeface="+mn-lt"/>
              </a:rPr>
              <a:t>Configuraciones seleccionadas:</a:t>
            </a:r>
            <a:endParaRPr lang="es-ES" sz="2200"/>
          </a:p>
          <a:p>
            <a:pPr>
              <a:buFont typeface="Arial"/>
              <a:buChar char="•"/>
            </a:pPr>
            <a:r>
              <a:rPr lang="es-ES" sz="2200">
                <a:ea typeface="+mn-lt"/>
                <a:cs typeface="+mn-lt"/>
              </a:rPr>
              <a:t>Routing: Sí </a:t>
            </a:r>
            <a:endParaRPr lang="es-ES" sz="2200"/>
          </a:p>
          <a:p>
            <a:pPr>
              <a:buFont typeface="Arial"/>
              <a:buChar char="•"/>
            </a:pPr>
            <a:r>
              <a:rPr lang="es-ES" sz="2200">
                <a:ea typeface="+mn-lt"/>
                <a:cs typeface="+mn-lt"/>
              </a:rPr>
              <a:t>Estilos: CSS </a:t>
            </a:r>
            <a:endParaRPr lang="es-ES" sz="2200"/>
          </a:p>
          <a:p>
            <a:pPr indent="0">
              <a:buNone/>
            </a:pPr>
            <a:r>
              <a:rPr lang="es-ES" sz="2200">
                <a:ea typeface="+mn-lt"/>
                <a:cs typeface="+mn-lt"/>
              </a:rPr>
              <a:t>Posteriormente se accedió al proyecto:</a:t>
            </a:r>
            <a:endParaRPr lang="es-ES" sz="2200"/>
          </a:p>
          <a:p>
            <a:pPr>
              <a:buNone/>
            </a:pPr>
            <a:r>
              <a:rPr lang="es-ES" sz="2200">
                <a:latin typeface="Consolas"/>
              </a:rPr>
              <a:t>cd pizzas-kids</a:t>
            </a:r>
            <a:endParaRPr lang="es-ES" sz="2200"/>
          </a:p>
          <a:p>
            <a:pPr marL="0" indent="0">
              <a:buNone/>
            </a:pPr>
            <a:endParaRPr lang="es-ES" sz="2200"/>
          </a:p>
        </p:txBody>
      </p:sp>
    </p:spTree>
    <p:extLst>
      <p:ext uri="{BB962C8B-B14F-4D97-AF65-F5344CB8AC3E}">
        <p14:creationId xmlns:p14="http://schemas.microsoft.com/office/powerpoint/2010/main" val="4258424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939B7EF-816C-C1CC-077E-A596293584BD}"/>
              </a:ext>
            </a:extLst>
          </p:cNvPr>
          <p:cNvSpPr>
            <a:spLocks noGrp="1"/>
          </p:cNvSpPr>
          <p:nvPr>
            <p:ph type="title"/>
          </p:nvPr>
        </p:nvSpPr>
        <p:spPr>
          <a:xfrm>
            <a:off x="804672" y="802955"/>
            <a:ext cx="4977976" cy="1454051"/>
          </a:xfrm>
        </p:spPr>
        <p:txBody>
          <a:bodyPr>
            <a:normAutofit/>
          </a:bodyPr>
          <a:lstStyle/>
          <a:p>
            <a:r>
              <a:rPr lang="es-ES" sz="3600">
                <a:solidFill>
                  <a:schemeClr val="tx2"/>
                </a:solidFill>
              </a:rPr>
              <a:t>EJECUCION DE LA APLICACIÓN</a:t>
            </a:r>
          </a:p>
        </p:txBody>
      </p:sp>
      <p:sp>
        <p:nvSpPr>
          <p:cNvPr id="3" name="Marcador de contenido 2">
            <a:extLst>
              <a:ext uri="{FF2B5EF4-FFF2-40B4-BE49-F238E27FC236}">
                <a16:creationId xmlns:a16="http://schemas.microsoft.com/office/drawing/2014/main" id="{F74DD6CB-567C-659D-E600-698A5712E758}"/>
              </a:ext>
            </a:extLst>
          </p:cNvPr>
          <p:cNvSpPr>
            <a:spLocks noGrp="1"/>
          </p:cNvSpPr>
          <p:nvPr>
            <p:ph idx="1"/>
          </p:nvPr>
        </p:nvSpPr>
        <p:spPr>
          <a:xfrm>
            <a:off x="804672" y="2421682"/>
            <a:ext cx="4977578" cy="3639289"/>
          </a:xfrm>
        </p:spPr>
        <p:txBody>
          <a:bodyPr vert="horz" lIns="91440" tIns="45720" rIns="91440" bIns="45720" rtlCol="0" anchor="ctr">
            <a:normAutofit/>
          </a:bodyPr>
          <a:lstStyle/>
          <a:p>
            <a:pPr>
              <a:buNone/>
            </a:pPr>
            <a:r>
              <a:rPr lang="es-ES" sz="2000">
                <a:ea typeface="+mn-lt"/>
                <a:cs typeface="+mn-lt"/>
              </a:rPr>
              <a:t>Para ejecutar el proyecto se utilizó en la terminal el siguiente comando:</a:t>
            </a:r>
          </a:p>
          <a:p>
            <a:pPr>
              <a:buNone/>
            </a:pPr>
            <a:r>
              <a:rPr lang="es-ES" sz="2000">
                <a:latin typeface="Consolas"/>
              </a:rPr>
              <a:t>ng serve</a:t>
            </a:r>
            <a:endParaRPr lang="es-ES" sz="2000"/>
          </a:p>
          <a:p>
            <a:pPr>
              <a:buNone/>
            </a:pPr>
            <a:r>
              <a:rPr lang="es-ES" sz="2000">
                <a:ea typeface="+mn-lt"/>
                <a:cs typeface="+mn-lt"/>
              </a:rPr>
              <a:t>Después se abrió el navegador en:</a:t>
            </a:r>
          </a:p>
          <a:p>
            <a:pPr>
              <a:buNone/>
            </a:pPr>
            <a:r>
              <a:rPr lang="es-ES" sz="2000" dirty="0">
                <a:latin typeface="Consolas"/>
                <a:hlinkClick r:id="rId2">
                  <a:extLst>
                    <a:ext uri="{A12FA001-AC4F-418D-AE19-62706E023703}">
                      <ahyp:hlinkClr xmlns:ahyp="http://schemas.microsoft.com/office/drawing/2018/hyperlinkcolor" val="tx"/>
                    </a:ext>
                  </a:extLst>
                </a:hlinkClick>
              </a:rPr>
              <a:t>http://localhost:4200</a:t>
            </a:r>
            <a:endParaRPr lang="es-ES" sz="2000" dirty="0"/>
          </a:p>
          <a:p>
            <a:pPr>
              <a:buNone/>
            </a:pPr>
            <a:endParaRPr lang="es-ES" sz="1800">
              <a:solidFill>
                <a:schemeClr val="tx2"/>
              </a:solidFill>
            </a:endParaRPr>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Cursor">
            <a:extLst>
              <a:ext uri="{FF2B5EF4-FFF2-40B4-BE49-F238E27FC236}">
                <a16:creationId xmlns:a16="http://schemas.microsoft.com/office/drawing/2014/main" id="{2C04B90F-35FC-9013-51DC-0D24DE9E821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485637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F188528-F671-D124-923D-9DE11855F97D}"/>
              </a:ext>
            </a:extLst>
          </p:cNvPr>
          <p:cNvSpPr>
            <a:spLocks noGrp="1"/>
          </p:cNvSpPr>
          <p:nvPr>
            <p:ph type="title"/>
          </p:nvPr>
        </p:nvSpPr>
        <p:spPr>
          <a:xfrm>
            <a:off x="804672" y="802955"/>
            <a:ext cx="4977976" cy="1454051"/>
          </a:xfrm>
        </p:spPr>
        <p:txBody>
          <a:bodyPr>
            <a:normAutofit/>
          </a:bodyPr>
          <a:lstStyle/>
          <a:p>
            <a:r>
              <a:rPr lang="es-ES" sz="3600">
                <a:solidFill>
                  <a:schemeClr val="tx2"/>
                </a:solidFill>
              </a:rPr>
              <a:t>DESARROLLO DE LA APLICACIÓN</a:t>
            </a:r>
          </a:p>
        </p:txBody>
      </p:sp>
      <p:sp>
        <p:nvSpPr>
          <p:cNvPr id="3" name="Marcador de contenido 2">
            <a:extLst>
              <a:ext uri="{FF2B5EF4-FFF2-40B4-BE49-F238E27FC236}">
                <a16:creationId xmlns:a16="http://schemas.microsoft.com/office/drawing/2014/main" id="{21BBAB03-9CDB-54E2-497B-1C2A1F796CE8}"/>
              </a:ext>
            </a:extLst>
          </p:cNvPr>
          <p:cNvSpPr>
            <a:spLocks noGrp="1"/>
          </p:cNvSpPr>
          <p:nvPr>
            <p:ph idx="1"/>
          </p:nvPr>
        </p:nvSpPr>
        <p:spPr>
          <a:xfrm>
            <a:off x="804672" y="2421682"/>
            <a:ext cx="4977578" cy="3639289"/>
          </a:xfrm>
        </p:spPr>
        <p:txBody>
          <a:bodyPr vert="horz" lIns="91440" tIns="45720" rIns="91440" bIns="45720" rtlCol="0" anchor="ctr">
            <a:normAutofit/>
          </a:bodyPr>
          <a:lstStyle/>
          <a:p>
            <a:pPr>
              <a:buNone/>
            </a:pPr>
            <a:r>
              <a:rPr lang="es-ES" sz="1800">
                <a:solidFill>
                  <a:schemeClr val="tx2"/>
                </a:solidFill>
                <a:ea typeface="+mn-lt"/>
                <a:cs typeface="+mn-lt"/>
              </a:rPr>
              <a:t>La aplicación incluye:</a:t>
            </a:r>
            <a:endParaRPr lang="es-ES" sz="1800">
              <a:solidFill>
                <a:schemeClr val="tx2"/>
              </a:solidFill>
            </a:endParaRPr>
          </a:p>
          <a:p>
            <a:pPr>
              <a:buFont typeface="Arial"/>
              <a:buChar char="•"/>
            </a:pPr>
            <a:r>
              <a:rPr lang="es-ES" sz="1800">
                <a:solidFill>
                  <a:schemeClr val="tx2"/>
                </a:solidFill>
                <a:ea typeface="+mn-lt"/>
                <a:cs typeface="+mn-lt"/>
              </a:rPr>
              <a:t>Página principal con menú de pizzas </a:t>
            </a:r>
            <a:endParaRPr lang="es-ES" sz="1800">
              <a:solidFill>
                <a:schemeClr val="tx2"/>
              </a:solidFill>
            </a:endParaRPr>
          </a:p>
          <a:p>
            <a:pPr>
              <a:buFont typeface="Arial"/>
              <a:buChar char="•"/>
            </a:pPr>
            <a:r>
              <a:rPr lang="es-ES" sz="1800">
                <a:solidFill>
                  <a:schemeClr val="tx2"/>
                </a:solidFill>
                <a:ea typeface="+mn-lt"/>
                <a:cs typeface="+mn-lt"/>
              </a:rPr>
              <a:t>Imágenes de Pizzas</a:t>
            </a:r>
            <a:endParaRPr lang="es-ES" sz="1800">
              <a:solidFill>
                <a:schemeClr val="tx2"/>
              </a:solidFill>
            </a:endParaRPr>
          </a:p>
          <a:p>
            <a:pPr>
              <a:buFont typeface="Arial"/>
              <a:buChar char="•"/>
            </a:pPr>
            <a:r>
              <a:rPr lang="es-ES" sz="1800">
                <a:solidFill>
                  <a:schemeClr val="tx2"/>
                </a:solidFill>
                <a:ea typeface="+mn-lt"/>
                <a:cs typeface="+mn-lt"/>
              </a:rPr>
              <a:t>Uso de componentes en Angular </a:t>
            </a:r>
            <a:endParaRPr lang="es-ES" sz="1800">
              <a:solidFill>
                <a:schemeClr val="tx2"/>
              </a:solidFill>
            </a:endParaRPr>
          </a:p>
          <a:p>
            <a:pPr indent="0">
              <a:buNone/>
            </a:pPr>
            <a:r>
              <a:rPr lang="es-ES" sz="1800">
                <a:solidFill>
                  <a:schemeClr val="tx2"/>
                </a:solidFill>
                <a:ea typeface="+mn-lt"/>
                <a:cs typeface="+mn-lt"/>
              </a:rPr>
              <a:t>Se trabajó en archivos principales como:</a:t>
            </a:r>
            <a:endParaRPr lang="es-ES" sz="1800">
              <a:solidFill>
                <a:schemeClr val="tx2"/>
              </a:solidFill>
            </a:endParaRPr>
          </a:p>
          <a:p>
            <a:pPr>
              <a:buFont typeface="Arial"/>
              <a:buChar char="•"/>
            </a:pPr>
            <a:r>
              <a:rPr lang="es-ES" sz="1800">
                <a:solidFill>
                  <a:schemeClr val="tx2"/>
                </a:solidFill>
                <a:latin typeface="Consolas"/>
              </a:rPr>
              <a:t>app.component.html</a:t>
            </a:r>
            <a:r>
              <a:rPr lang="es-ES" sz="1800" dirty="0">
                <a:solidFill>
                  <a:schemeClr val="tx2"/>
                </a:solidFill>
                <a:ea typeface="+mn-lt"/>
                <a:cs typeface="+mn-lt"/>
              </a:rPr>
              <a:t> </a:t>
            </a:r>
            <a:endParaRPr lang="es-ES" sz="1800" dirty="0">
              <a:solidFill>
                <a:schemeClr val="tx2"/>
              </a:solidFill>
            </a:endParaRPr>
          </a:p>
          <a:p>
            <a:pPr>
              <a:buFont typeface="Arial"/>
              <a:buChar char="•"/>
            </a:pPr>
            <a:r>
              <a:rPr lang="es-ES" sz="1800">
                <a:solidFill>
                  <a:schemeClr val="tx2"/>
                </a:solidFill>
                <a:latin typeface="Consolas"/>
              </a:rPr>
              <a:t>app.component.css</a:t>
            </a:r>
            <a:r>
              <a:rPr lang="es-ES" sz="1800" dirty="0">
                <a:solidFill>
                  <a:schemeClr val="tx2"/>
                </a:solidFill>
                <a:ea typeface="+mn-lt"/>
                <a:cs typeface="+mn-lt"/>
              </a:rPr>
              <a:t> </a:t>
            </a:r>
            <a:endParaRPr lang="es-ES" sz="1800" dirty="0">
              <a:solidFill>
                <a:schemeClr val="tx2"/>
              </a:solidFill>
            </a:endParaRPr>
          </a:p>
          <a:p>
            <a:pPr>
              <a:buFont typeface="Arial"/>
              <a:buChar char="•"/>
            </a:pPr>
            <a:r>
              <a:rPr lang="es-ES" sz="1800" dirty="0" err="1">
                <a:solidFill>
                  <a:schemeClr val="tx2"/>
                </a:solidFill>
                <a:latin typeface="Consolas"/>
              </a:rPr>
              <a:t>app.component.ts</a:t>
            </a:r>
            <a:r>
              <a:rPr lang="es-ES" sz="1800" dirty="0">
                <a:solidFill>
                  <a:schemeClr val="tx2"/>
                </a:solidFill>
                <a:ea typeface="+mn-lt"/>
                <a:cs typeface="+mn-lt"/>
              </a:rPr>
              <a:t> </a:t>
            </a:r>
            <a:endParaRPr lang="es-ES" sz="1800" dirty="0">
              <a:solidFill>
                <a:schemeClr val="tx2"/>
              </a:solidFill>
            </a:endParaRPr>
          </a:p>
          <a:p>
            <a:pPr marL="0" indent="0">
              <a:buNone/>
            </a:pPr>
            <a:endParaRPr lang="es-ES" sz="1800">
              <a:solidFill>
                <a:schemeClr val="tx2"/>
              </a:solidFill>
            </a:endParaRPr>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Biblioteca de informes de Fabric">
            <a:extLst>
              <a:ext uri="{FF2B5EF4-FFF2-40B4-BE49-F238E27FC236}">
                <a16:creationId xmlns:a16="http://schemas.microsoft.com/office/drawing/2014/main" id="{681487BF-24DB-3D08-DCC4-C37DB699C83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1656427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816EDC-F967-7C22-3105-D44F164AA424}"/>
              </a:ext>
            </a:extLst>
          </p:cNvPr>
          <p:cNvSpPr>
            <a:spLocks noGrp="1"/>
          </p:cNvSpPr>
          <p:nvPr>
            <p:ph type="title"/>
          </p:nvPr>
        </p:nvSpPr>
        <p:spPr/>
        <p:txBody>
          <a:bodyPr/>
          <a:lstStyle/>
          <a:p>
            <a:r>
              <a:rPr lang="es-ES"/>
              <a:t>DISEÑOS</a:t>
            </a:r>
            <a:endParaRPr lang="es-ES" dirty="0"/>
          </a:p>
        </p:txBody>
      </p:sp>
      <p:pic>
        <p:nvPicPr>
          <p:cNvPr id="4" name="Marcador de contenido 3" descr="Imagen que contiene Logotipo&#10;&#10;El contenido generado por IA puede ser incorrecto.">
            <a:extLst>
              <a:ext uri="{FF2B5EF4-FFF2-40B4-BE49-F238E27FC236}">
                <a16:creationId xmlns:a16="http://schemas.microsoft.com/office/drawing/2014/main" id="{9734ADC9-C534-6129-3230-084989A7666C}"/>
              </a:ext>
            </a:extLst>
          </p:cNvPr>
          <p:cNvPicPr>
            <a:picLocks noGrp="1" noChangeAspect="1"/>
          </p:cNvPicPr>
          <p:nvPr>
            <p:ph idx="1"/>
          </p:nvPr>
        </p:nvPicPr>
        <p:blipFill>
          <a:blip r:embed="rId2"/>
          <a:stretch>
            <a:fillRect/>
          </a:stretch>
        </p:blipFill>
        <p:spPr>
          <a:xfrm>
            <a:off x="652246" y="1696229"/>
            <a:ext cx="4791508" cy="2094093"/>
          </a:xfrm>
          <a:prstGeom prst="rect">
            <a:avLst/>
          </a:prstGeom>
        </p:spPr>
      </p:pic>
      <p:pic>
        <p:nvPicPr>
          <p:cNvPr id="5" name="Imagen 4" descr="Imagen que contiene Interfaz de usuario gráfica&#10;&#10;El contenido generado por IA puede ser incorrecto.">
            <a:extLst>
              <a:ext uri="{FF2B5EF4-FFF2-40B4-BE49-F238E27FC236}">
                <a16:creationId xmlns:a16="http://schemas.microsoft.com/office/drawing/2014/main" id="{7D8E522E-CEDC-5314-97B9-F23FA0942B88}"/>
              </a:ext>
            </a:extLst>
          </p:cNvPr>
          <p:cNvPicPr>
            <a:picLocks noChangeAspect="1"/>
          </p:cNvPicPr>
          <p:nvPr/>
        </p:nvPicPr>
        <p:blipFill>
          <a:blip r:embed="rId3"/>
          <a:stretch>
            <a:fillRect/>
          </a:stretch>
        </p:blipFill>
        <p:spPr>
          <a:xfrm>
            <a:off x="6304022" y="1027802"/>
            <a:ext cx="5047352" cy="2257605"/>
          </a:xfrm>
          <a:prstGeom prst="rect">
            <a:avLst/>
          </a:prstGeom>
        </p:spPr>
      </p:pic>
      <p:pic>
        <p:nvPicPr>
          <p:cNvPr id="6" name="Imagen 5" descr="Forma&#10;&#10;El contenido generado por IA puede ser incorrecto.">
            <a:extLst>
              <a:ext uri="{FF2B5EF4-FFF2-40B4-BE49-F238E27FC236}">
                <a16:creationId xmlns:a16="http://schemas.microsoft.com/office/drawing/2014/main" id="{8E17D5D7-595B-F28A-3DA1-BF140110D505}"/>
              </a:ext>
            </a:extLst>
          </p:cNvPr>
          <p:cNvPicPr>
            <a:picLocks noChangeAspect="1"/>
          </p:cNvPicPr>
          <p:nvPr/>
        </p:nvPicPr>
        <p:blipFill>
          <a:blip r:embed="rId4"/>
          <a:stretch>
            <a:fillRect/>
          </a:stretch>
        </p:blipFill>
        <p:spPr>
          <a:xfrm>
            <a:off x="458638" y="4197021"/>
            <a:ext cx="5236234" cy="1914525"/>
          </a:xfrm>
          <a:prstGeom prst="rect">
            <a:avLst/>
          </a:prstGeom>
        </p:spPr>
      </p:pic>
      <p:pic>
        <p:nvPicPr>
          <p:cNvPr id="7" name="Imagen 6" descr="Interfaz de usuario gráfica, Texto, Aplicación, Chat o mensaje de texto&#10;&#10;El contenido generado por IA puede ser incorrecto.">
            <a:extLst>
              <a:ext uri="{FF2B5EF4-FFF2-40B4-BE49-F238E27FC236}">
                <a16:creationId xmlns:a16="http://schemas.microsoft.com/office/drawing/2014/main" id="{EAE9352C-532B-6F44-5274-FDB0806F2818}"/>
              </a:ext>
            </a:extLst>
          </p:cNvPr>
          <p:cNvPicPr>
            <a:picLocks noChangeAspect="1"/>
          </p:cNvPicPr>
          <p:nvPr/>
        </p:nvPicPr>
        <p:blipFill>
          <a:blip r:embed="rId5"/>
          <a:stretch>
            <a:fillRect/>
          </a:stretch>
        </p:blipFill>
        <p:spPr>
          <a:xfrm>
            <a:off x="6824392" y="3796521"/>
            <a:ext cx="4552950" cy="2571750"/>
          </a:xfrm>
          <a:prstGeom prst="rect">
            <a:avLst/>
          </a:prstGeom>
        </p:spPr>
      </p:pic>
    </p:spTree>
    <p:extLst>
      <p:ext uri="{BB962C8B-B14F-4D97-AF65-F5344CB8AC3E}">
        <p14:creationId xmlns:p14="http://schemas.microsoft.com/office/powerpoint/2010/main" val="2773940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345903C-EAC1-B8E3-34AE-D4F6BC47D381}"/>
              </a:ext>
            </a:extLst>
          </p:cNvPr>
          <p:cNvSpPr>
            <a:spLocks noGrp="1"/>
          </p:cNvSpPr>
          <p:nvPr>
            <p:ph type="title"/>
          </p:nvPr>
        </p:nvSpPr>
        <p:spPr>
          <a:xfrm>
            <a:off x="686834" y="1153572"/>
            <a:ext cx="3200400" cy="4461163"/>
          </a:xfrm>
        </p:spPr>
        <p:txBody>
          <a:bodyPr>
            <a:normAutofit/>
          </a:bodyPr>
          <a:lstStyle/>
          <a:p>
            <a:r>
              <a:rPr lang="es-ES" sz="3100">
                <a:solidFill>
                  <a:srgbClr val="FFFFFF"/>
                </a:solidFill>
              </a:rPr>
              <a:t>CONCLUSIONES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7AA8033A-2263-875F-9645-CFD72116C85F}"/>
              </a:ext>
            </a:extLst>
          </p:cNvPr>
          <p:cNvSpPr>
            <a:spLocks noGrp="1"/>
          </p:cNvSpPr>
          <p:nvPr>
            <p:ph idx="1"/>
          </p:nvPr>
        </p:nvSpPr>
        <p:spPr>
          <a:xfrm>
            <a:off x="4447308" y="591344"/>
            <a:ext cx="6906491" cy="5585619"/>
          </a:xfrm>
        </p:spPr>
        <p:txBody>
          <a:bodyPr vert="horz" lIns="91440" tIns="45720" rIns="91440" bIns="45720" rtlCol="0" anchor="ctr">
            <a:normAutofit/>
          </a:bodyPr>
          <a:lstStyle/>
          <a:p>
            <a:pPr algn="just">
              <a:buNone/>
            </a:pPr>
            <a:r>
              <a:rPr lang="es-ES" dirty="0">
                <a:ea typeface="+mn-lt"/>
                <a:cs typeface="+mn-lt"/>
              </a:rPr>
              <a:t>La </a:t>
            </a:r>
            <a:r>
              <a:rPr lang="es-ES">
                <a:ea typeface="+mn-lt"/>
                <a:cs typeface="+mn-lt"/>
              </a:rPr>
              <a:t>realización</a:t>
            </a:r>
            <a:r>
              <a:rPr lang="es-ES" dirty="0">
                <a:ea typeface="+mn-lt"/>
                <a:cs typeface="+mn-lt"/>
              </a:rPr>
              <a:t> de este entorno permitió comprender la importancia de configurar adecuadamente un entorno de desarrollo para aplicaciones web. Además, se adquirieron conocimientos sobre el uso de Angular, la estructura de proyectos y la resolución de errores comunes. El desarrollo de la aplicación </a:t>
            </a:r>
            <a:r>
              <a:rPr lang="es-ES" b="1" dirty="0">
                <a:ea typeface="+mn-lt"/>
                <a:cs typeface="+mn-lt"/>
              </a:rPr>
              <a:t>“Pizzas </a:t>
            </a:r>
            <a:r>
              <a:rPr lang="es-ES" b="1" err="1">
                <a:ea typeface="+mn-lt"/>
                <a:cs typeface="+mn-lt"/>
              </a:rPr>
              <a:t>Kids</a:t>
            </a:r>
            <a:r>
              <a:rPr lang="es-ES" b="1" dirty="0">
                <a:ea typeface="+mn-lt"/>
                <a:cs typeface="+mn-lt"/>
              </a:rPr>
              <a:t>”</a:t>
            </a:r>
            <a:r>
              <a:rPr lang="es-ES" dirty="0">
                <a:ea typeface="+mn-lt"/>
                <a:cs typeface="+mn-lt"/>
              </a:rPr>
              <a:t> permitió aplicar conceptos básicos de diseño web y programación, logrando una interfaz funcional y atractiva.</a:t>
            </a:r>
            <a:endParaRPr lang="es-ES" dirty="0"/>
          </a:p>
          <a:p>
            <a:pPr marL="0" indent="0">
              <a:buNone/>
            </a:pPr>
            <a:endParaRPr lang="es-ES" dirty="0"/>
          </a:p>
        </p:txBody>
      </p:sp>
    </p:spTree>
    <p:extLst>
      <p:ext uri="{BB962C8B-B14F-4D97-AF65-F5344CB8AC3E}">
        <p14:creationId xmlns:p14="http://schemas.microsoft.com/office/powerpoint/2010/main" val="1414235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672C06A-9C0A-6DAE-0FD8-D4B9F2F63C4A}"/>
              </a:ext>
            </a:extLst>
          </p:cNvPr>
          <p:cNvSpPr>
            <a:spLocks noGrp="1"/>
          </p:cNvSpPr>
          <p:nvPr>
            <p:ph type="title"/>
          </p:nvPr>
        </p:nvSpPr>
        <p:spPr>
          <a:xfrm>
            <a:off x="686834" y="1153572"/>
            <a:ext cx="3200400" cy="4461163"/>
          </a:xfrm>
        </p:spPr>
        <p:txBody>
          <a:bodyPr>
            <a:normAutofit/>
          </a:bodyPr>
          <a:lstStyle/>
          <a:p>
            <a:r>
              <a:rPr lang="es-ES" sz="3700">
                <a:solidFill>
                  <a:srgbClr val="FFFFFF"/>
                </a:solidFill>
              </a:rPr>
              <a:t>REFERENCIAS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24B97CE1-E4C6-11F8-09A5-4351D63F1AA4}"/>
              </a:ext>
            </a:extLst>
          </p:cNvPr>
          <p:cNvSpPr>
            <a:spLocks noGrp="1"/>
          </p:cNvSpPr>
          <p:nvPr>
            <p:ph idx="1"/>
          </p:nvPr>
        </p:nvSpPr>
        <p:spPr>
          <a:xfrm>
            <a:off x="4447308" y="591344"/>
            <a:ext cx="6906491" cy="5585619"/>
          </a:xfrm>
        </p:spPr>
        <p:txBody>
          <a:bodyPr vert="horz" lIns="91440" tIns="45720" rIns="91440" bIns="45720" rtlCol="0" anchor="ctr">
            <a:normAutofit/>
          </a:bodyPr>
          <a:lstStyle/>
          <a:p>
            <a:pPr>
              <a:buFont typeface="Arial"/>
              <a:buChar char="•"/>
            </a:pPr>
            <a:r>
              <a:rPr lang="es-ES">
                <a:ea typeface="+mn-lt"/>
                <a:cs typeface="+mn-lt"/>
              </a:rPr>
              <a:t>Documentación oficial de Angular </a:t>
            </a:r>
            <a:endParaRPr lang="es-ES"/>
          </a:p>
          <a:p>
            <a:pPr>
              <a:buFont typeface="Arial"/>
              <a:buChar char="•"/>
            </a:pPr>
            <a:r>
              <a:rPr lang="es-ES" dirty="0">
                <a:ea typeface="+mn-lt"/>
                <a:cs typeface="+mn-lt"/>
                <a:hlinkClick r:id="rId2"/>
              </a:rPr>
              <a:t>https://nodejs.org</a:t>
            </a:r>
            <a:r>
              <a:rPr lang="es-ES" dirty="0">
                <a:ea typeface="+mn-lt"/>
                <a:cs typeface="+mn-lt"/>
              </a:rPr>
              <a:t> </a:t>
            </a:r>
            <a:endParaRPr lang="es-ES" dirty="0"/>
          </a:p>
          <a:p>
            <a:pPr>
              <a:buFont typeface="Arial"/>
              <a:buChar char="•"/>
            </a:pPr>
            <a:r>
              <a:rPr lang="es-ES" dirty="0">
                <a:ea typeface="+mn-lt"/>
                <a:cs typeface="+mn-lt"/>
                <a:hlinkClick r:id="rId3"/>
              </a:rPr>
              <a:t>https://angular.io</a:t>
            </a:r>
            <a:r>
              <a:rPr lang="es-ES" dirty="0">
                <a:ea typeface="+mn-lt"/>
                <a:cs typeface="+mn-lt"/>
              </a:rPr>
              <a:t> </a:t>
            </a:r>
            <a:endParaRPr lang="es-ES" dirty="0"/>
          </a:p>
          <a:p>
            <a:pPr>
              <a:buFont typeface="Arial"/>
              <a:buChar char="•"/>
            </a:pPr>
            <a:r>
              <a:rPr lang="es-ES" dirty="0">
                <a:ea typeface="+mn-lt"/>
                <a:cs typeface="+mn-lt"/>
                <a:hlinkClick r:id="rId4"/>
              </a:rPr>
              <a:t>https://code.visualstudio.com</a:t>
            </a:r>
            <a:r>
              <a:rPr lang="es-ES" dirty="0">
                <a:ea typeface="+mn-lt"/>
                <a:cs typeface="+mn-lt"/>
              </a:rPr>
              <a:t> </a:t>
            </a:r>
            <a:endParaRPr lang="es-ES" dirty="0"/>
          </a:p>
          <a:p>
            <a:pPr marL="0" indent="0">
              <a:buNone/>
            </a:pPr>
            <a:endParaRPr lang="es-ES" dirty="0"/>
          </a:p>
        </p:txBody>
      </p:sp>
    </p:spTree>
    <p:extLst>
      <p:ext uri="{BB962C8B-B14F-4D97-AF65-F5344CB8AC3E}">
        <p14:creationId xmlns:p14="http://schemas.microsoft.com/office/powerpoint/2010/main" val="2347180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6C6562-D69A-4420-4353-7949A4F501FA}"/>
              </a:ext>
            </a:extLst>
          </p:cNvPr>
          <p:cNvSpPr>
            <a:spLocks noGrp="1"/>
          </p:cNvSpPr>
          <p:nvPr>
            <p:ph type="title"/>
          </p:nvPr>
        </p:nvSpPr>
        <p:spPr/>
        <p:txBody>
          <a:bodyPr/>
          <a:lstStyle/>
          <a:p>
            <a:r>
              <a:rPr lang="es-ES"/>
              <a:t>ANEXO ENLACE DE GIT</a:t>
            </a:r>
          </a:p>
        </p:txBody>
      </p:sp>
      <p:sp>
        <p:nvSpPr>
          <p:cNvPr id="3" name="Marcador de contenido 2">
            <a:extLst>
              <a:ext uri="{FF2B5EF4-FFF2-40B4-BE49-F238E27FC236}">
                <a16:creationId xmlns:a16="http://schemas.microsoft.com/office/drawing/2014/main" id="{8ED9F2E5-27F7-7E68-CFF6-32559647B279}"/>
              </a:ext>
            </a:extLst>
          </p:cNvPr>
          <p:cNvSpPr>
            <a:spLocks noGrp="1"/>
          </p:cNvSpPr>
          <p:nvPr>
            <p:ph idx="1"/>
          </p:nvPr>
        </p:nvSpPr>
        <p:spPr/>
        <p:txBody>
          <a:bodyPr vert="horz" lIns="91440" tIns="45720" rIns="91440" bIns="45720" rtlCol="0" anchor="t">
            <a:normAutofit/>
          </a:bodyPr>
          <a:lstStyle/>
          <a:p>
            <a:pPr marL="0" indent="0">
              <a:buNone/>
            </a:pPr>
            <a:endParaRPr lang="es-ES"/>
          </a:p>
        </p:txBody>
      </p:sp>
    </p:spTree>
    <p:extLst>
      <p:ext uri="{BB962C8B-B14F-4D97-AF65-F5344CB8AC3E}">
        <p14:creationId xmlns:p14="http://schemas.microsoft.com/office/powerpoint/2010/main" val="36997964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Panorámica</PresentationFormat>
  <Paragraphs>0</Paragraphs>
  <Slides>14</Slides>
  <Notes>0</Notes>
  <HiddenSlides>0</HiddenSlides>
  <MMClips>0</MMClips>
  <ScaleCrop>false</ScaleCrop>
  <HeadingPairs>
    <vt:vector size="4" baseType="variant">
      <vt:variant>
        <vt:lpstr>Tema</vt:lpstr>
      </vt:variant>
      <vt:variant>
        <vt:i4>1</vt:i4>
      </vt:variant>
      <vt:variant>
        <vt:lpstr>Títulos de diapositiva</vt:lpstr>
      </vt:variant>
      <vt:variant>
        <vt:i4>14</vt:i4>
      </vt:variant>
    </vt:vector>
  </HeadingPairs>
  <TitlesOfParts>
    <vt:vector size="15" baseType="lpstr">
      <vt:lpstr>Tema de Office</vt:lpstr>
      <vt:lpstr>Presentación de PowerPoint</vt:lpstr>
      <vt:lpstr>INTRODUCCION</vt:lpstr>
      <vt:lpstr>JUSTIFICACIÓN</vt:lpstr>
      <vt:lpstr>OBJETIVO</vt:lpstr>
      <vt:lpstr>HERRAMIENTAS UTILIZADAS</vt:lpstr>
      <vt:lpstr>INSTALACION DE ENTORNO</vt:lpstr>
      <vt:lpstr>INSTALACIÓN DE ANGULAR CLI</vt:lpstr>
      <vt:lpstr>CREACIÓN DEL PROYECTO</vt:lpstr>
      <vt:lpstr>EJECUCION DE LA APLICACIÓN</vt:lpstr>
      <vt:lpstr>DESARROLLO DE LA APLICACIÓN</vt:lpstr>
      <vt:lpstr>DISEÑOS</vt:lpstr>
      <vt:lpstr>CONCLUSIONES</vt:lpstr>
      <vt:lpstr>REFERENCIAS</vt:lpstr>
      <vt:lpstr>ANEXO ENLACE DE GIT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101</cp:revision>
  <dcterms:created xsi:type="dcterms:W3CDTF">2026-05-04T21:25:58Z</dcterms:created>
  <dcterms:modified xsi:type="dcterms:W3CDTF">2026-05-04T22:42:56Z</dcterms:modified>
</cp:coreProperties>
</file>