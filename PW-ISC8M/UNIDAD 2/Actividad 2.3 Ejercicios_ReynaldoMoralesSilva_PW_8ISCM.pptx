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B892FD34-48D1-4446-B097-D62E9270E440}" type="datetimeFigureOut">
              <a:rPr lang="es-MX" smtClean="0"/>
              <a:t>02/06/2026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53CAD39-297E-4489-A337-B042C7D231A1}" type="slidenum">
              <a:rPr lang="es-MX" smtClean="0"/>
              <a:t>‹Nº›</a:t>
            </a:fld>
            <a:endParaRPr lang="es-MX"/>
          </a:p>
        </p:txBody>
      </p:sp>
    </p:spTree>
    <p:extLst>
      <p:ext uri="{BB962C8B-B14F-4D97-AF65-F5344CB8AC3E}">
        <p14:creationId xmlns:p14="http://schemas.microsoft.com/office/powerpoint/2010/main" val="27619966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892FD34-48D1-4446-B097-D62E9270E440}" type="datetimeFigureOut">
              <a:rPr lang="es-MX" smtClean="0"/>
              <a:t>02/06/2026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53CAD39-297E-4489-A337-B042C7D231A1}" type="slidenum">
              <a:rPr lang="es-MX" smtClean="0"/>
              <a:t>‹Nº›</a:t>
            </a:fld>
            <a:endParaRPr lang="es-MX"/>
          </a:p>
        </p:txBody>
      </p:sp>
    </p:spTree>
    <p:extLst>
      <p:ext uri="{BB962C8B-B14F-4D97-AF65-F5344CB8AC3E}">
        <p14:creationId xmlns:p14="http://schemas.microsoft.com/office/powerpoint/2010/main" val="2038528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892FD34-48D1-4446-B097-D62E9270E440}" type="datetimeFigureOut">
              <a:rPr lang="es-MX" smtClean="0"/>
              <a:t>02/06/2026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53CAD39-297E-4489-A337-B042C7D231A1}" type="slidenum">
              <a:rPr lang="es-MX" smtClean="0"/>
              <a:t>‹Nº›</a:t>
            </a:fld>
            <a:endParaRPr lang="es-MX"/>
          </a:p>
        </p:txBody>
      </p:sp>
    </p:spTree>
    <p:extLst>
      <p:ext uri="{BB962C8B-B14F-4D97-AF65-F5344CB8AC3E}">
        <p14:creationId xmlns:p14="http://schemas.microsoft.com/office/powerpoint/2010/main" val="30255413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B892FD34-48D1-4446-B097-D62E9270E440}" type="datetimeFigureOut">
              <a:rPr lang="es-MX" smtClean="0"/>
              <a:t>02/06/2026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C53CAD39-297E-4489-A337-B042C7D231A1}" type="slidenum">
              <a:rPr lang="es-MX" smtClean="0"/>
              <a:t>‹Nº›</a:t>
            </a:fld>
            <a:endParaRPr lang="es-MX"/>
          </a:p>
        </p:txBody>
      </p:sp>
    </p:spTree>
    <p:extLst>
      <p:ext uri="{BB962C8B-B14F-4D97-AF65-F5344CB8AC3E}">
        <p14:creationId xmlns:p14="http://schemas.microsoft.com/office/powerpoint/2010/main" val="3598045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892FD34-48D1-4446-B097-D62E9270E440}" type="datetimeFigureOut">
              <a:rPr lang="es-MX" smtClean="0"/>
              <a:t>02/06/2026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C53CAD39-297E-4489-A337-B042C7D231A1}" type="slidenum">
              <a:rPr lang="es-MX" smtClean="0"/>
              <a:t>‹Nº›</a:t>
            </a:fld>
            <a:endParaRPr lang="es-MX"/>
          </a:p>
        </p:txBody>
      </p:sp>
    </p:spTree>
    <p:extLst>
      <p:ext uri="{BB962C8B-B14F-4D97-AF65-F5344CB8AC3E}">
        <p14:creationId xmlns:p14="http://schemas.microsoft.com/office/powerpoint/2010/main" val="3734680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B892FD34-48D1-4446-B097-D62E9270E440}" type="datetimeFigureOut">
              <a:rPr lang="es-MX" smtClean="0"/>
              <a:t>02/06/2026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C53CAD39-297E-4489-A337-B042C7D231A1}" type="slidenum">
              <a:rPr lang="es-MX" smtClean="0"/>
              <a:t>‹Nº›</a:t>
            </a:fld>
            <a:endParaRPr lang="es-MX"/>
          </a:p>
        </p:txBody>
      </p:sp>
    </p:spTree>
    <p:extLst>
      <p:ext uri="{BB962C8B-B14F-4D97-AF65-F5344CB8AC3E}">
        <p14:creationId xmlns:p14="http://schemas.microsoft.com/office/powerpoint/2010/main" val="42050534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92FD34-48D1-4446-B097-D62E9270E440}" type="datetimeFigureOut">
              <a:rPr lang="es-MX" smtClean="0"/>
              <a:t>02/06/2026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C53CAD39-297E-4489-A337-B042C7D231A1}" type="slidenum">
              <a:rPr lang="es-MX" smtClean="0"/>
              <a:t>‹Nº›</a:t>
            </a:fld>
            <a:endParaRPr lang="es-MX"/>
          </a:p>
        </p:txBody>
      </p:sp>
    </p:spTree>
    <p:extLst>
      <p:ext uri="{BB962C8B-B14F-4D97-AF65-F5344CB8AC3E}">
        <p14:creationId xmlns:p14="http://schemas.microsoft.com/office/powerpoint/2010/main" val="644889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892FD34-48D1-4446-B097-D62E9270E440}" type="datetimeFigureOut">
              <a:rPr lang="es-MX" smtClean="0"/>
              <a:t>02/06/2026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C53CAD39-297E-4489-A337-B042C7D231A1}" type="slidenum">
              <a:rPr lang="es-MX" smtClean="0"/>
              <a:t>‹Nº›</a:t>
            </a:fld>
            <a:endParaRPr lang="es-MX"/>
          </a:p>
        </p:txBody>
      </p:sp>
    </p:spTree>
    <p:extLst>
      <p:ext uri="{BB962C8B-B14F-4D97-AF65-F5344CB8AC3E}">
        <p14:creationId xmlns:p14="http://schemas.microsoft.com/office/powerpoint/2010/main" val="19184761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C53CAD39-297E-4489-A337-B042C7D231A1}" type="slidenum">
              <a:rPr lang="es-MX" smtClean="0"/>
              <a:t>‹Nº›</a:t>
            </a:fld>
            <a:endParaRPr lang="es-MX"/>
          </a:p>
        </p:txBody>
      </p:sp>
      <p:sp>
        <p:nvSpPr>
          <p:cNvPr id="5" name="Date Placeholder 4"/>
          <p:cNvSpPr>
            <a:spLocks noGrp="1"/>
          </p:cNvSpPr>
          <p:nvPr>
            <p:ph type="dt" sz="half" idx="10"/>
          </p:nvPr>
        </p:nvSpPr>
        <p:spPr/>
        <p:txBody>
          <a:bodyPr/>
          <a:lstStyle/>
          <a:p>
            <a:fld id="{B892FD34-48D1-4446-B097-D62E9270E440}" type="datetimeFigureOut">
              <a:rPr lang="es-MX" smtClean="0"/>
              <a:t>02/06/2026</a:t>
            </a:fld>
            <a:endParaRPr lang="es-MX"/>
          </a:p>
        </p:txBody>
      </p:sp>
    </p:spTree>
    <p:extLst>
      <p:ext uri="{BB962C8B-B14F-4D97-AF65-F5344CB8AC3E}">
        <p14:creationId xmlns:p14="http://schemas.microsoft.com/office/powerpoint/2010/main" val="334422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892FD34-48D1-4446-B097-D62E9270E440}" type="datetimeFigureOut">
              <a:rPr lang="es-MX" smtClean="0"/>
              <a:t>02/06/2026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53CAD39-297E-4489-A337-B042C7D231A1}" type="slidenum">
              <a:rPr lang="es-MX" smtClean="0"/>
              <a:t>‹Nº›</a:t>
            </a:fld>
            <a:endParaRPr lang="es-MX"/>
          </a:p>
        </p:txBody>
      </p:sp>
    </p:spTree>
    <p:extLst>
      <p:ext uri="{BB962C8B-B14F-4D97-AF65-F5344CB8AC3E}">
        <p14:creationId xmlns:p14="http://schemas.microsoft.com/office/powerpoint/2010/main" val="2917994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892FD34-48D1-4446-B097-D62E9270E440}" type="datetimeFigureOut">
              <a:rPr lang="es-MX" smtClean="0"/>
              <a:t>02/06/2026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53CAD39-297E-4489-A337-B042C7D231A1}" type="slidenum">
              <a:rPr lang="es-MX" smtClean="0"/>
              <a:t>‹Nº›</a:t>
            </a:fld>
            <a:endParaRPr lang="es-MX"/>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494644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892FD34-48D1-4446-B097-D62E9270E440}" type="datetimeFigureOut">
              <a:rPr lang="es-MX" smtClean="0"/>
              <a:t>02/06/2026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53CAD39-297E-4489-A337-B042C7D231A1}" type="slidenum">
              <a:rPr lang="es-MX" smtClean="0"/>
              <a:t>‹Nº›</a:t>
            </a:fld>
            <a:endParaRPr lang="es-MX"/>
          </a:p>
        </p:txBody>
      </p:sp>
    </p:spTree>
    <p:extLst>
      <p:ext uri="{BB962C8B-B14F-4D97-AF65-F5344CB8AC3E}">
        <p14:creationId xmlns:p14="http://schemas.microsoft.com/office/powerpoint/2010/main" val="20647283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892FD34-48D1-4446-B097-D62E9270E440}" type="datetimeFigureOut">
              <a:rPr lang="es-MX" smtClean="0"/>
              <a:t>02/06/2026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53CAD39-297E-4489-A337-B042C7D231A1}" type="slidenum">
              <a:rPr lang="es-MX" smtClean="0"/>
              <a:t>‹Nº›</a:t>
            </a:fld>
            <a:endParaRPr lang="es-MX"/>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665600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892FD34-48D1-4446-B097-D62E9270E440}" type="datetimeFigureOut">
              <a:rPr lang="es-MX" smtClean="0"/>
              <a:t>02/06/2026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53CAD39-297E-4489-A337-B042C7D231A1}" type="slidenum">
              <a:rPr lang="es-MX" smtClean="0"/>
              <a:t>‹Nº›</a:t>
            </a:fld>
            <a:endParaRPr lang="es-MX"/>
          </a:p>
        </p:txBody>
      </p:sp>
    </p:spTree>
    <p:extLst>
      <p:ext uri="{BB962C8B-B14F-4D97-AF65-F5344CB8AC3E}">
        <p14:creationId xmlns:p14="http://schemas.microsoft.com/office/powerpoint/2010/main" val="15226652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892FD34-48D1-4446-B097-D62E9270E440}" type="datetimeFigureOut">
              <a:rPr lang="es-MX" smtClean="0"/>
              <a:t>02/06/2026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53CAD39-297E-4489-A337-B042C7D231A1}" type="slidenum">
              <a:rPr lang="es-MX" smtClean="0"/>
              <a:t>‹Nº›</a:t>
            </a:fld>
            <a:endParaRPr lang="es-MX"/>
          </a:p>
        </p:txBody>
      </p:sp>
    </p:spTree>
    <p:extLst>
      <p:ext uri="{BB962C8B-B14F-4D97-AF65-F5344CB8AC3E}">
        <p14:creationId xmlns:p14="http://schemas.microsoft.com/office/powerpoint/2010/main" val="18588920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892FD34-48D1-4446-B097-D62E9270E440}" type="datetimeFigureOut">
              <a:rPr lang="es-MX" smtClean="0"/>
              <a:t>02/06/2026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53CAD39-297E-4489-A337-B042C7D231A1}" type="slidenum">
              <a:rPr lang="es-MX" smtClean="0"/>
              <a:t>‹Nº›</a:t>
            </a:fld>
            <a:endParaRPr lang="es-MX"/>
          </a:p>
        </p:txBody>
      </p:sp>
    </p:spTree>
    <p:extLst>
      <p:ext uri="{BB962C8B-B14F-4D97-AF65-F5344CB8AC3E}">
        <p14:creationId xmlns:p14="http://schemas.microsoft.com/office/powerpoint/2010/main" val="14845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892FD34-48D1-4446-B097-D62E9270E440}" type="datetimeFigureOut">
              <a:rPr lang="es-MX" smtClean="0"/>
              <a:t>02/06/2026</a:t>
            </a:fld>
            <a:endParaRPr lang="es-MX"/>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MX"/>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53CAD39-297E-4489-A337-B042C7D231A1}" type="slidenum">
              <a:rPr lang="es-MX" smtClean="0"/>
              <a:t>‹Nº›</a:t>
            </a:fld>
            <a:endParaRPr lang="es-MX"/>
          </a:p>
        </p:txBody>
      </p:sp>
    </p:spTree>
    <p:extLst>
      <p:ext uri="{BB962C8B-B14F-4D97-AF65-F5344CB8AC3E}">
        <p14:creationId xmlns:p14="http://schemas.microsoft.com/office/powerpoint/2010/main" val="2386107744"/>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Imagen que contiene Logotipo&#10;&#10;El contenido generado por IA puede ser incorrecto.">
            <a:extLst>
              <a:ext uri="{FF2B5EF4-FFF2-40B4-BE49-F238E27FC236}">
                <a16:creationId xmlns:a16="http://schemas.microsoft.com/office/drawing/2014/main" id="{E3E4E4FC-3187-CF36-DC2E-59ED0C59488D}"/>
              </a:ext>
            </a:extLst>
          </p:cNvPr>
          <p:cNvPicPr>
            <a:picLocks noChangeAspect="1"/>
          </p:cNvPicPr>
          <p:nvPr/>
        </p:nvPicPr>
        <p:blipFill>
          <a:blip r:embed="rId2"/>
          <a:stretch>
            <a:fillRect/>
          </a:stretch>
        </p:blipFill>
        <p:spPr>
          <a:xfrm>
            <a:off x="694785" y="735222"/>
            <a:ext cx="3700014" cy="1131858"/>
          </a:xfrm>
          <a:prstGeom prst="rect">
            <a:avLst/>
          </a:prstGeom>
        </p:spPr>
      </p:pic>
      <p:pic>
        <p:nvPicPr>
          <p:cNvPr id="6" name="Imagen 5" descr="Logotipo, nombre de la empresa&#10;&#10;El contenido generado por IA puede ser incorrecto.">
            <a:extLst>
              <a:ext uri="{FF2B5EF4-FFF2-40B4-BE49-F238E27FC236}">
                <a16:creationId xmlns:a16="http://schemas.microsoft.com/office/drawing/2014/main" id="{32D4FD04-9C41-872A-BBE0-AFB4894BBC5E}"/>
              </a:ext>
            </a:extLst>
          </p:cNvPr>
          <p:cNvPicPr>
            <a:picLocks noChangeAspect="1"/>
          </p:cNvPicPr>
          <p:nvPr/>
        </p:nvPicPr>
        <p:blipFill>
          <a:blip r:embed="rId3"/>
          <a:stretch>
            <a:fillRect/>
          </a:stretch>
        </p:blipFill>
        <p:spPr>
          <a:xfrm>
            <a:off x="5401753" y="821486"/>
            <a:ext cx="2265513" cy="959330"/>
          </a:xfrm>
          <a:prstGeom prst="rect">
            <a:avLst/>
          </a:prstGeom>
        </p:spPr>
      </p:pic>
      <p:pic>
        <p:nvPicPr>
          <p:cNvPr id="7" name="Imagen 6" descr="Diagrama&#10;&#10;El contenido generado por IA puede ser incorrecto.">
            <a:extLst>
              <a:ext uri="{FF2B5EF4-FFF2-40B4-BE49-F238E27FC236}">
                <a16:creationId xmlns:a16="http://schemas.microsoft.com/office/drawing/2014/main" id="{9EB2DA60-83AC-2DA8-92AF-8A474C9BEF22}"/>
              </a:ext>
            </a:extLst>
          </p:cNvPr>
          <p:cNvPicPr>
            <a:picLocks noChangeAspect="1"/>
          </p:cNvPicPr>
          <p:nvPr/>
        </p:nvPicPr>
        <p:blipFill>
          <a:blip r:embed="rId4"/>
          <a:stretch>
            <a:fillRect/>
          </a:stretch>
        </p:blipFill>
        <p:spPr>
          <a:xfrm>
            <a:off x="9308172" y="754002"/>
            <a:ext cx="1396941" cy="950524"/>
          </a:xfrm>
          <a:prstGeom prst="rect">
            <a:avLst/>
          </a:prstGeom>
        </p:spPr>
      </p:pic>
      <p:sp>
        <p:nvSpPr>
          <p:cNvPr id="8" name="CuadroTexto 7">
            <a:extLst>
              <a:ext uri="{FF2B5EF4-FFF2-40B4-BE49-F238E27FC236}">
                <a16:creationId xmlns:a16="http://schemas.microsoft.com/office/drawing/2014/main" id="{5B679216-A249-FFA2-9523-D63ADA0536BD}"/>
              </a:ext>
            </a:extLst>
          </p:cNvPr>
          <p:cNvSpPr txBox="1"/>
          <p:nvPr/>
        </p:nvSpPr>
        <p:spPr>
          <a:xfrm>
            <a:off x="2866292" y="2075548"/>
            <a:ext cx="6098344" cy="4247317"/>
          </a:xfrm>
          <a:prstGeom prst="rect">
            <a:avLst/>
          </a:prstGeom>
          <a:noFill/>
        </p:spPr>
        <p:txBody>
          <a:bodyPr wrap="square">
            <a:spAutoFit/>
          </a:bodyPr>
          <a:lstStyle/>
          <a:p>
            <a:pPr algn="ctr"/>
            <a:r>
              <a:rPr lang="es-ES" sz="1800" dirty="0">
                <a:latin typeface="Arial"/>
                <a:cs typeface="Segoe UI"/>
              </a:rPr>
              <a:t>Tecnológico Nacional de México</a:t>
            </a:r>
            <a:r>
              <a:rPr lang="en-US" sz="1800" dirty="0">
                <a:latin typeface="Arial"/>
                <a:cs typeface="Segoe UI"/>
              </a:rPr>
              <a:t>​</a:t>
            </a:r>
            <a:endParaRPr lang="es-ES" sz="1800" dirty="0">
              <a:latin typeface="Arial"/>
              <a:cs typeface="Arial"/>
            </a:endParaRPr>
          </a:p>
          <a:p>
            <a:pPr algn="ctr"/>
            <a:r>
              <a:rPr lang="es-ES" sz="1800" dirty="0">
                <a:latin typeface="Arial"/>
                <a:cs typeface="Segoe UI"/>
              </a:rPr>
              <a:t>Instituto Tecnológico de Frontera Comalapa</a:t>
            </a:r>
            <a:r>
              <a:rPr lang="en-US" sz="1800" dirty="0">
                <a:latin typeface="Arial"/>
                <a:cs typeface="Segoe UI"/>
              </a:rPr>
              <a:t>​</a:t>
            </a:r>
          </a:p>
          <a:p>
            <a:pPr algn="ctr"/>
            <a:r>
              <a:rPr lang="es-ES" sz="1800" dirty="0">
                <a:latin typeface="Arial"/>
                <a:cs typeface="Segoe UI"/>
              </a:rPr>
              <a:t>​</a:t>
            </a:r>
          </a:p>
          <a:p>
            <a:pPr algn="ctr"/>
            <a:r>
              <a:rPr lang="en-US" sz="1800" dirty="0">
                <a:latin typeface="Arial"/>
                <a:cs typeface="Segoe UI"/>
              </a:rPr>
              <a:t>EJERCICIOS</a:t>
            </a:r>
          </a:p>
          <a:p>
            <a:pPr algn="ctr"/>
            <a:endParaRPr lang="en-US" sz="1800" dirty="0">
              <a:latin typeface="Arial"/>
              <a:cs typeface="Segoe UI"/>
            </a:endParaRPr>
          </a:p>
          <a:p>
            <a:pPr algn="ctr"/>
            <a:r>
              <a:rPr lang="es-ES" sz="1800" dirty="0">
                <a:latin typeface="Arial"/>
                <a:cs typeface="Segoe UI"/>
              </a:rPr>
              <a:t>PROGRAMACIÓN WEB</a:t>
            </a:r>
          </a:p>
          <a:p>
            <a:pPr algn="ctr"/>
            <a:r>
              <a:rPr lang="es-ES" sz="1800" dirty="0">
                <a:latin typeface="Arial"/>
                <a:cs typeface="Segoe UI"/>
              </a:rPr>
              <a:t>​</a:t>
            </a:r>
            <a:endParaRPr lang="es-ES" sz="1800" dirty="0">
              <a:latin typeface="Arial"/>
              <a:cs typeface="Arial"/>
            </a:endParaRPr>
          </a:p>
          <a:p>
            <a:pPr algn="ctr"/>
            <a:r>
              <a:rPr lang="es-ES" sz="1800" dirty="0">
                <a:latin typeface="Arial"/>
                <a:cs typeface="Segoe UI"/>
              </a:rPr>
              <a:t>Integrante: </a:t>
            </a:r>
            <a:r>
              <a:rPr lang="en-US" sz="1800" dirty="0">
                <a:latin typeface="Arial"/>
                <a:cs typeface="Segoe UI"/>
              </a:rPr>
              <a:t>​</a:t>
            </a:r>
          </a:p>
          <a:p>
            <a:pPr algn="ctr"/>
            <a:endParaRPr lang="es-ES" sz="1800" dirty="0">
              <a:latin typeface="Arial"/>
              <a:cs typeface="Segoe UI"/>
            </a:endParaRPr>
          </a:p>
          <a:p>
            <a:pPr algn="ctr"/>
            <a:r>
              <a:rPr lang="es-ES" sz="1800" dirty="0">
                <a:latin typeface="Arial"/>
                <a:cs typeface="Segoe UI"/>
              </a:rPr>
              <a:t>Reynaldo Felipe Morales Silva</a:t>
            </a:r>
            <a:r>
              <a:rPr lang="en-US" sz="1800" dirty="0">
                <a:latin typeface="Arial"/>
                <a:cs typeface="Segoe UI"/>
              </a:rPr>
              <a:t>​</a:t>
            </a:r>
          </a:p>
          <a:p>
            <a:pPr algn="ctr"/>
            <a:endParaRPr lang="es-MX" sz="1800" dirty="0">
              <a:latin typeface="Arial"/>
              <a:cs typeface="Arial"/>
            </a:endParaRPr>
          </a:p>
          <a:p>
            <a:pPr algn="ctr"/>
            <a:r>
              <a:rPr lang="es-ES" sz="1800" dirty="0">
                <a:latin typeface="Arial"/>
                <a:cs typeface="Segoe UI"/>
              </a:rPr>
              <a:t>Carrera: Ingeniería en Sistemas Computacionales</a:t>
            </a:r>
            <a:r>
              <a:rPr lang="en-US" sz="1800" dirty="0">
                <a:latin typeface="Arial"/>
                <a:cs typeface="Segoe UI"/>
              </a:rPr>
              <a:t>​</a:t>
            </a:r>
          </a:p>
          <a:p>
            <a:pPr algn="ctr"/>
            <a:r>
              <a:rPr lang="es-ES" sz="1800" dirty="0">
                <a:latin typeface="Arial"/>
                <a:cs typeface="Segoe UI"/>
              </a:rPr>
              <a:t>​</a:t>
            </a:r>
          </a:p>
          <a:p>
            <a:pPr algn="ctr"/>
            <a:r>
              <a:rPr lang="es-ES" sz="1800" dirty="0">
                <a:latin typeface="Arial"/>
                <a:cs typeface="Segoe UI"/>
              </a:rPr>
              <a:t>Docente: Ing. Francisco Javier Mingo Velázquez</a:t>
            </a:r>
          </a:p>
          <a:p>
            <a:pPr algn="ctr"/>
            <a:r>
              <a:rPr lang="es-ES" sz="1800" dirty="0">
                <a:latin typeface="Arial"/>
                <a:cs typeface="Segoe UI"/>
              </a:rPr>
              <a:t>Fecha:  </a:t>
            </a:r>
            <a:r>
              <a:rPr lang="es-ES" dirty="0">
                <a:latin typeface="Arial"/>
                <a:cs typeface="Segoe UI"/>
              </a:rPr>
              <a:t>07</a:t>
            </a:r>
            <a:r>
              <a:rPr lang="es-ES" sz="1800" dirty="0">
                <a:latin typeface="Arial"/>
                <a:cs typeface="Segoe UI"/>
              </a:rPr>
              <a:t> de mayo del 2026</a:t>
            </a:r>
          </a:p>
        </p:txBody>
      </p:sp>
    </p:spTree>
    <p:extLst>
      <p:ext uri="{BB962C8B-B14F-4D97-AF65-F5344CB8AC3E}">
        <p14:creationId xmlns:p14="http://schemas.microsoft.com/office/powerpoint/2010/main" val="15855561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121A52-6295-A51A-D760-2D5597013CB1}"/>
              </a:ext>
            </a:extLst>
          </p:cNvPr>
          <p:cNvSpPr>
            <a:spLocks noGrp="1"/>
          </p:cNvSpPr>
          <p:nvPr>
            <p:ph type="title"/>
          </p:nvPr>
        </p:nvSpPr>
        <p:spPr/>
        <p:txBody>
          <a:bodyPr/>
          <a:lstStyle/>
          <a:p>
            <a:r>
              <a:rPr lang="es-MX" dirty="0"/>
              <a:t>INTRODUCCIÓN</a:t>
            </a:r>
          </a:p>
        </p:txBody>
      </p:sp>
      <p:sp>
        <p:nvSpPr>
          <p:cNvPr id="3" name="Marcador de contenido 2">
            <a:extLst>
              <a:ext uri="{FF2B5EF4-FFF2-40B4-BE49-F238E27FC236}">
                <a16:creationId xmlns:a16="http://schemas.microsoft.com/office/drawing/2014/main" id="{BC1C7844-B6A2-2F5F-67C7-82BE92ADF191}"/>
              </a:ext>
            </a:extLst>
          </p:cNvPr>
          <p:cNvSpPr>
            <a:spLocks noGrp="1"/>
          </p:cNvSpPr>
          <p:nvPr>
            <p:ph idx="1"/>
          </p:nvPr>
        </p:nvSpPr>
        <p:spPr/>
        <p:txBody>
          <a:bodyPr>
            <a:normAutofit/>
          </a:bodyPr>
          <a:lstStyle/>
          <a:p>
            <a:pPr marL="0" indent="0" algn="just">
              <a:buNone/>
            </a:pPr>
            <a:r>
              <a:rPr lang="es-MX" dirty="0"/>
              <a:t>En la actualidad, los sistemas informáticos permiten optimizar los procesos de negocio mediante la automatización de tareas y el almacenamiento seguro de la información. En este </a:t>
            </a:r>
            <a:r>
              <a:rPr lang="es-MX" dirty="0" err="1"/>
              <a:t>ejercició</a:t>
            </a:r>
            <a:r>
              <a:rPr lang="es-MX" dirty="0"/>
              <a:t> se trabajó con el desarrollo de una funcionalidad dentro del proyecto web denominado Pizzas-</a:t>
            </a:r>
            <a:r>
              <a:rPr lang="es-MX" dirty="0" err="1"/>
              <a:t>Kids</a:t>
            </a:r>
            <a:r>
              <a:rPr lang="es-MX" dirty="0"/>
              <a:t>, desarrollado con Angular y conectado a una base de datos en </a:t>
            </a:r>
            <a:r>
              <a:rPr lang="es-MX" dirty="0" err="1"/>
              <a:t>Supabase</a:t>
            </a:r>
            <a:r>
              <a:rPr lang="es-MX" dirty="0"/>
              <a:t>. El objetivo principal de esta actividad fue implementar el proceso de registro de pedidos, permitiendo que la información capturada por el cliente sea almacenada de forma correcta en la base de datos. Con ello se busca mejorar la gestión de los pedidos y garantizar la disponibilidad de la información para futuras consultas y administración del negocio.</a:t>
            </a:r>
          </a:p>
          <a:p>
            <a:pPr marL="0" indent="0">
              <a:buNone/>
            </a:pPr>
            <a:endParaRPr lang="es-MX" dirty="0"/>
          </a:p>
        </p:txBody>
      </p:sp>
    </p:spTree>
    <p:extLst>
      <p:ext uri="{BB962C8B-B14F-4D97-AF65-F5344CB8AC3E}">
        <p14:creationId xmlns:p14="http://schemas.microsoft.com/office/powerpoint/2010/main" val="42325233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DD5ACF-D841-BDBD-2103-DA134AE7E028}"/>
              </a:ext>
            </a:extLst>
          </p:cNvPr>
          <p:cNvSpPr>
            <a:spLocks noGrp="1"/>
          </p:cNvSpPr>
          <p:nvPr>
            <p:ph type="title"/>
          </p:nvPr>
        </p:nvSpPr>
        <p:spPr/>
        <p:txBody>
          <a:bodyPr/>
          <a:lstStyle/>
          <a:p>
            <a:r>
              <a:rPr lang="es-MX" dirty="0"/>
              <a:t>JUSTIFICACIÓN</a:t>
            </a:r>
          </a:p>
        </p:txBody>
      </p:sp>
      <p:sp>
        <p:nvSpPr>
          <p:cNvPr id="3" name="Marcador de contenido 2">
            <a:extLst>
              <a:ext uri="{FF2B5EF4-FFF2-40B4-BE49-F238E27FC236}">
                <a16:creationId xmlns:a16="http://schemas.microsoft.com/office/drawing/2014/main" id="{0A789B1E-3724-F63F-088B-35EECFBF59D4}"/>
              </a:ext>
            </a:extLst>
          </p:cNvPr>
          <p:cNvSpPr>
            <a:spLocks noGrp="1"/>
          </p:cNvSpPr>
          <p:nvPr>
            <p:ph idx="1"/>
          </p:nvPr>
        </p:nvSpPr>
        <p:spPr/>
        <p:txBody>
          <a:bodyPr>
            <a:normAutofit/>
          </a:bodyPr>
          <a:lstStyle/>
          <a:p>
            <a:pPr marL="0" indent="0" algn="just">
              <a:buNone/>
            </a:pPr>
            <a:r>
              <a:rPr lang="es-MX" dirty="0"/>
              <a:t>La implementación de un sistema de registro de pedidos es una necesidad fundamental para cualquier negocio dedicado a la venta de alimentos. En el caso de Pizzas-</a:t>
            </a:r>
            <a:r>
              <a:rPr lang="es-MX" dirty="0" err="1"/>
              <a:t>Kids</a:t>
            </a:r>
            <a:r>
              <a:rPr lang="es-MX" dirty="0"/>
              <a:t>, contar con una funcionalidad que permita almacenar automáticamente los pedidos en una base de datos facilita el control de ventas, reduce errores de captura y mejora la organización de la información. Además, este ejercicio permitió fortalecer los conocimientos relacionados con el desarrollo de aplicaciones web utilizando Angular, la integración con servicios externos como </a:t>
            </a:r>
            <a:r>
              <a:rPr lang="es-MX" dirty="0" err="1"/>
              <a:t>Supabase</a:t>
            </a:r>
            <a:r>
              <a:rPr lang="es-MX" dirty="0"/>
              <a:t> y el manejo de operaciones CRUD (Crear, Leer, Actualizar y Eliminar) dentro de una base de datos moderna en la nube.</a:t>
            </a:r>
          </a:p>
          <a:p>
            <a:pPr marL="0" indent="0">
              <a:buNone/>
            </a:pPr>
            <a:endParaRPr lang="es-MX" dirty="0"/>
          </a:p>
        </p:txBody>
      </p:sp>
    </p:spTree>
    <p:extLst>
      <p:ext uri="{BB962C8B-B14F-4D97-AF65-F5344CB8AC3E}">
        <p14:creationId xmlns:p14="http://schemas.microsoft.com/office/powerpoint/2010/main" val="1212484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AF49C1-89B2-3438-017D-98378F05F391}"/>
              </a:ext>
            </a:extLst>
          </p:cNvPr>
          <p:cNvSpPr>
            <a:spLocks noGrp="1"/>
          </p:cNvSpPr>
          <p:nvPr>
            <p:ph type="title"/>
          </p:nvPr>
        </p:nvSpPr>
        <p:spPr/>
        <p:txBody>
          <a:bodyPr/>
          <a:lstStyle/>
          <a:p>
            <a:r>
              <a:rPr lang="es-MX" dirty="0"/>
              <a:t>EJERCICIO</a:t>
            </a:r>
          </a:p>
        </p:txBody>
      </p:sp>
      <p:sp>
        <p:nvSpPr>
          <p:cNvPr id="3" name="Marcador de contenido 2">
            <a:extLst>
              <a:ext uri="{FF2B5EF4-FFF2-40B4-BE49-F238E27FC236}">
                <a16:creationId xmlns:a16="http://schemas.microsoft.com/office/drawing/2014/main" id="{4E0D6607-AFFC-D005-CE6C-5C3B3FAD4D1D}"/>
              </a:ext>
            </a:extLst>
          </p:cNvPr>
          <p:cNvSpPr>
            <a:spLocks noGrp="1"/>
          </p:cNvSpPr>
          <p:nvPr>
            <p:ph idx="1"/>
          </p:nvPr>
        </p:nvSpPr>
        <p:spPr/>
        <p:txBody>
          <a:bodyPr/>
          <a:lstStyle/>
          <a:p>
            <a:pPr marL="0" indent="0" algn="just">
              <a:buNone/>
            </a:pPr>
            <a:r>
              <a:rPr lang="es-MX" dirty="0"/>
              <a:t>En este ejercicio llevaremos a cabo al momento que un cliente entra a la pagina y en el apartado de menú compra una pizza de ahí veremos como rellenamos las casillas que nos pide y veremos al momento que compra se gurda automáticamente a nuestra base de datos en </a:t>
            </a:r>
            <a:r>
              <a:rPr lang="es-MX" dirty="0" err="1"/>
              <a:t>supabase</a:t>
            </a:r>
            <a:r>
              <a:rPr lang="es-MX" dirty="0"/>
              <a:t> así tendremos en cuenta que nuestro proyecto sirve o funciona a lo que le pedimos que en este caso fue estar conectado a una base de datos.</a:t>
            </a:r>
          </a:p>
        </p:txBody>
      </p:sp>
    </p:spTree>
    <p:extLst>
      <p:ext uri="{BB962C8B-B14F-4D97-AF65-F5344CB8AC3E}">
        <p14:creationId xmlns:p14="http://schemas.microsoft.com/office/powerpoint/2010/main" val="3663274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31F7197-265B-95CA-49D2-609F622386C7}"/>
              </a:ext>
            </a:extLst>
          </p:cNvPr>
          <p:cNvSpPr>
            <a:spLocks noGrp="1"/>
          </p:cNvSpPr>
          <p:nvPr>
            <p:ph idx="1"/>
          </p:nvPr>
        </p:nvSpPr>
        <p:spPr>
          <a:xfrm>
            <a:off x="838200" y="900332"/>
            <a:ext cx="10515600" cy="5276631"/>
          </a:xfrm>
        </p:spPr>
        <p:txBody>
          <a:bodyPr/>
          <a:lstStyle/>
          <a:p>
            <a:pPr marL="0" indent="0">
              <a:buNone/>
            </a:pPr>
            <a:r>
              <a:rPr lang="es-MX" dirty="0"/>
              <a:t>Nuestro cliente llega a nuestra pagina y entre a el menú donde se selecciona cualquier pizza ya sea </a:t>
            </a:r>
            <a:r>
              <a:rPr lang="es-MX" dirty="0" err="1"/>
              <a:t>hawuaiana</a:t>
            </a:r>
            <a:r>
              <a:rPr lang="es-MX" dirty="0"/>
              <a:t>, mexicana o de pepperoni quedando de la siguiente manera.</a:t>
            </a:r>
          </a:p>
          <a:p>
            <a:pPr marL="0" indent="0">
              <a:buNone/>
            </a:pPr>
            <a:endParaRPr lang="es-MX" dirty="0"/>
          </a:p>
        </p:txBody>
      </p:sp>
      <p:pic>
        <p:nvPicPr>
          <p:cNvPr id="5" name="Imagen 4">
            <a:extLst>
              <a:ext uri="{FF2B5EF4-FFF2-40B4-BE49-F238E27FC236}">
                <a16:creationId xmlns:a16="http://schemas.microsoft.com/office/drawing/2014/main" id="{13633B83-D42C-4927-48B0-5E51E492B028}"/>
              </a:ext>
            </a:extLst>
          </p:cNvPr>
          <p:cNvPicPr>
            <a:picLocks noChangeAspect="1"/>
          </p:cNvPicPr>
          <p:nvPr/>
        </p:nvPicPr>
        <p:blipFill>
          <a:blip r:embed="rId2"/>
          <a:stretch>
            <a:fillRect/>
          </a:stretch>
        </p:blipFill>
        <p:spPr>
          <a:xfrm>
            <a:off x="604910" y="2716739"/>
            <a:ext cx="5298831" cy="2979138"/>
          </a:xfrm>
          <a:prstGeom prst="rect">
            <a:avLst/>
          </a:prstGeom>
        </p:spPr>
      </p:pic>
      <p:pic>
        <p:nvPicPr>
          <p:cNvPr id="7" name="Imagen 6">
            <a:extLst>
              <a:ext uri="{FF2B5EF4-FFF2-40B4-BE49-F238E27FC236}">
                <a16:creationId xmlns:a16="http://schemas.microsoft.com/office/drawing/2014/main" id="{97D39CA3-174D-83E1-5040-7D28023FD442}"/>
              </a:ext>
            </a:extLst>
          </p:cNvPr>
          <p:cNvPicPr>
            <a:picLocks noChangeAspect="1"/>
          </p:cNvPicPr>
          <p:nvPr/>
        </p:nvPicPr>
        <p:blipFill>
          <a:blip r:embed="rId3"/>
          <a:stretch>
            <a:fillRect/>
          </a:stretch>
        </p:blipFill>
        <p:spPr>
          <a:xfrm>
            <a:off x="6288261" y="2788752"/>
            <a:ext cx="5425440" cy="1181215"/>
          </a:xfrm>
          <a:prstGeom prst="rect">
            <a:avLst/>
          </a:prstGeom>
        </p:spPr>
      </p:pic>
    </p:spTree>
    <p:extLst>
      <p:ext uri="{BB962C8B-B14F-4D97-AF65-F5344CB8AC3E}">
        <p14:creationId xmlns:p14="http://schemas.microsoft.com/office/powerpoint/2010/main" val="238257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610394B-000F-7D17-2753-DB7E8A4A82B9}"/>
              </a:ext>
            </a:extLst>
          </p:cNvPr>
          <p:cNvSpPr>
            <a:spLocks noGrp="1"/>
          </p:cNvSpPr>
          <p:nvPr>
            <p:ph idx="1"/>
          </p:nvPr>
        </p:nvSpPr>
        <p:spPr>
          <a:xfrm>
            <a:off x="838200" y="520505"/>
            <a:ext cx="10515600" cy="5656458"/>
          </a:xfrm>
        </p:spPr>
        <p:txBody>
          <a:bodyPr/>
          <a:lstStyle/>
          <a:p>
            <a:pPr marL="0" indent="0">
              <a:buNone/>
            </a:pPr>
            <a:r>
              <a:rPr lang="es-MX" dirty="0"/>
              <a:t>Una vez que ya hemos seleccionado una pizza nos vamos a el apartado de orden donde ahí se </a:t>
            </a:r>
            <a:r>
              <a:rPr lang="es-MX" dirty="0" err="1"/>
              <a:t>encuenta</a:t>
            </a:r>
            <a:r>
              <a:rPr lang="es-MX" dirty="0"/>
              <a:t> nuestra pizza que pedimos y procedemos a rellenar los datos.</a:t>
            </a:r>
          </a:p>
          <a:p>
            <a:pPr marL="0" indent="0">
              <a:buNone/>
            </a:pPr>
            <a:endParaRPr lang="es-MX" dirty="0"/>
          </a:p>
        </p:txBody>
      </p:sp>
      <p:pic>
        <p:nvPicPr>
          <p:cNvPr id="5" name="Imagen 4">
            <a:extLst>
              <a:ext uri="{FF2B5EF4-FFF2-40B4-BE49-F238E27FC236}">
                <a16:creationId xmlns:a16="http://schemas.microsoft.com/office/drawing/2014/main" id="{87CBC559-8A0C-D305-3F25-0732FB15AF20}"/>
              </a:ext>
            </a:extLst>
          </p:cNvPr>
          <p:cNvPicPr>
            <a:picLocks noChangeAspect="1"/>
          </p:cNvPicPr>
          <p:nvPr/>
        </p:nvPicPr>
        <p:blipFill>
          <a:blip r:embed="rId2"/>
          <a:stretch>
            <a:fillRect/>
          </a:stretch>
        </p:blipFill>
        <p:spPr>
          <a:xfrm>
            <a:off x="838200" y="2299978"/>
            <a:ext cx="4724784" cy="2292499"/>
          </a:xfrm>
          <a:prstGeom prst="rect">
            <a:avLst/>
          </a:prstGeom>
        </p:spPr>
      </p:pic>
      <p:pic>
        <p:nvPicPr>
          <p:cNvPr id="7" name="Imagen 6">
            <a:extLst>
              <a:ext uri="{FF2B5EF4-FFF2-40B4-BE49-F238E27FC236}">
                <a16:creationId xmlns:a16="http://schemas.microsoft.com/office/drawing/2014/main" id="{5FB60487-303D-1A74-C88C-2E4442BCE810}"/>
              </a:ext>
            </a:extLst>
          </p:cNvPr>
          <p:cNvPicPr>
            <a:picLocks noChangeAspect="1"/>
          </p:cNvPicPr>
          <p:nvPr/>
        </p:nvPicPr>
        <p:blipFill>
          <a:blip r:embed="rId3"/>
          <a:stretch>
            <a:fillRect/>
          </a:stretch>
        </p:blipFill>
        <p:spPr>
          <a:xfrm>
            <a:off x="5840977" y="2039503"/>
            <a:ext cx="5419038" cy="2778994"/>
          </a:xfrm>
          <a:prstGeom prst="rect">
            <a:avLst/>
          </a:prstGeom>
        </p:spPr>
      </p:pic>
    </p:spTree>
    <p:extLst>
      <p:ext uri="{BB962C8B-B14F-4D97-AF65-F5344CB8AC3E}">
        <p14:creationId xmlns:p14="http://schemas.microsoft.com/office/powerpoint/2010/main" val="1194248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C1C2CCD-C4EF-B354-5724-48EB75DB8896}"/>
              </a:ext>
            </a:extLst>
          </p:cNvPr>
          <p:cNvSpPr>
            <a:spLocks noGrp="1"/>
          </p:cNvSpPr>
          <p:nvPr>
            <p:ph idx="1"/>
          </p:nvPr>
        </p:nvSpPr>
        <p:spPr>
          <a:xfrm>
            <a:off x="838200" y="590843"/>
            <a:ext cx="10515600" cy="5586120"/>
          </a:xfrm>
        </p:spPr>
        <p:txBody>
          <a:bodyPr/>
          <a:lstStyle/>
          <a:p>
            <a:pPr marL="0" indent="0">
              <a:buNone/>
            </a:pPr>
            <a:r>
              <a:rPr lang="es-MX" dirty="0" err="1"/>
              <a:t>Despues</a:t>
            </a:r>
            <a:r>
              <a:rPr lang="es-MX" dirty="0"/>
              <a:t> de rellenar los datos le damos en confirmar pedido y nos mandara una nota de que se guardo correctamente nuestro pedido, y al momento de guardar y confirmar se quedara </a:t>
            </a:r>
            <a:r>
              <a:rPr lang="es-MX" dirty="0" err="1"/>
              <a:t>vacia</a:t>
            </a:r>
            <a:r>
              <a:rPr lang="es-MX" dirty="0"/>
              <a:t> nuestra pagina.</a:t>
            </a:r>
          </a:p>
          <a:p>
            <a:pPr marL="0" indent="0">
              <a:buNone/>
            </a:pPr>
            <a:endParaRPr lang="es-MX" dirty="0"/>
          </a:p>
        </p:txBody>
      </p:sp>
      <p:pic>
        <p:nvPicPr>
          <p:cNvPr id="5" name="Imagen 4">
            <a:extLst>
              <a:ext uri="{FF2B5EF4-FFF2-40B4-BE49-F238E27FC236}">
                <a16:creationId xmlns:a16="http://schemas.microsoft.com/office/drawing/2014/main" id="{46A6C7B5-C801-DA85-5BBF-BC8A55FDEFBC}"/>
              </a:ext>
            </a:extLst>
          </p:cNvPr>
          <p:cNvPicPr>
            <a:picLocks noChangeAspect="1"/>
          </p:cNvPicPr>
          <p:nvPr/>
        </p:nvPicPr>
        <p:blipFill>
          <a:blip r:embed="rId2"/>
          <a:stretch>
            <a:fillRect/>
          </a:stretch>
        </p:blipFill>
        <p:spPr>
          <a:xfrm>
            <a:off x="338597" y="2531143"/>
            <a:ext cx="5577666" cy="2810267"/>
          </a:xfrm>
          <a:prstGeom prst="rect">
            <a:avLst/>
          </a:prstGeom>
        </p:spPr>
      </p:pic>
      <p:pic>
        <p:nvPicPr>
          <p:cNvPr id="7" name="Imagen 6">
            <a:extLst>
              <a:ext uri="{FF2B5EF4-FFF2-40B4-BE49-F238E27FC236}">
                <a16:creationId xmlns:a16="http://schemas.microsoft.com/office/drawing/2014/main" id="{BB00BDF2-3DF4-2B36-6E99-ABD4CF768B3C}"/>
              </a:ext>
            </a:extLst>
          </p:cNvPr>
          <p:cNvPicPr>
            <a:picLocks noChangeAspect="1"/>
          </p:cNvPicPr>
          <p:nvPr/>
        </p:nvPicPr>
        <p:blipFill>
          <a:blip r:embed="rId3"/>
          <a:stretch>
            <a:fillRect/>
          </a:stretch>
        </p:blipFill>
        <p:spPr>
          <a:xfrm>
            <a:off x="6096000" y="2531143"/>
            <a:ext cx="5310928" cy="1795713"/>
          </a:xfrm>
          <a:prstGeom prst="rect">
            <a:avLst/>
          </a:prstGeom>
        </p:spPr>
      </p:pic>
    </p:spTree>
    <p:extLst>
      <p:ext uri="{BB962C8B-B14F-4D97-AF65-F5344CB8AC3E}">
        <p14:creationId xmlns:p14="http://schemas.microsoft.com/office/powerpoint/2010/main" val="12520090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ABC66925-C9A4-4B12-9BAA-136610C87E95}"/>
              </a:ext>
            </a:extLst>
          </p:cNvPr>
          <p:cNvSpPr>
            <a:spLocks noGrp="1"/>
          </p:cNvSpPr>
          <p:nvPr>
            <p:ph idx="1"/>
          </p:nvPr>
        </p:nvSpPr>
        <p:spPr>
          <a:xfrm>
            <a:off x="838200" y="478302"/>
            <a:ext cx="10515600" cy="5698661"/>
          </a:xfrm>
        </p:spPr>
        <p:txBody>
          <a:bodyPr/>
          <a:lstStyle/>
          <a:p>
            <a:pPr marL="0" indent="0">
              <a:buNone/>
            </a:pPr>
            <a:r>
              <a:rPr lang="es-MX" dirty="0"/>
              <a:t>Una vez ya realizado estos pasos procedemos a ver dentro de nuestra base de datos que se guardo el registro correctamente.</a:t>
            </a:r>
          </a:p>
          <a:p>
            <a:pPr marL="0" indent="0">
              <a:buNone/>
            </a:pPr>
            <a:endParaRPr lang="es-MX" dirty="0"/>
          </a:p>
        </p:txBody>
      </p:sp>
      <p:pic>
        <p:nvPicPr>
          <p:cNvPr id="5" name="Imagen 4">
            <a:extLst>
              <a:ext uri="{FF2B5EF4-FFF2-40B4-BE49-F238E27FC236}">
                <a16:creationId xmlns:a16="http://schemas.microsoft.com/office/drawing/2014/main" id="{DC43D1FE-C5C6-412D-6224-C88868AC6D8A}"/>
              </a:ext>
            </a:extLst>
          </p:cNvPr>
          <p:cNvPicPr>
            <a:picLocks noChangeAspect="1"/>
          </p:cNvPicPr>
          <p:nvPr/>
        </p:nvPicPr>
        <p:blipFill>
          <a:blip r:embed="rId2"/>
          <a:stretch>
            <a:fillRect/>
          </a:stretch>
        </p:blipFill>
        <p:spPr>
          <a:xfrm>
            <a:off x="1037519" y="2033392"/>
            <a:ext cx="10116962" cy="2791215"/>
          </a:xfrm>
          <a:prstGeom prst="rect">
            <a:avLst/>
          </a:prstGeom>
        </p:spPr>
      </p:pic>
    </p:spTree>
    <p:extLst>
      <p:ext uri="{BB962C8B-B14F-4D97-AF65-F5344CB8AC3E}">
        <p14:creationId xmlns:p14="http://schemas.microsoft.com/office/powerpoint/2010/main" val="20773446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AEE17C4A-6906-52BA-6FC5-568BE5FD7737}"/>
              </a:ext>
            </a:extLst>
          </p:cNvPr>
          <p:cNvSpPr>
            <a:spLocks noGrp="1"/>
          </p:cNvSpPr>
          <p:nvPr>
            <p:ph idx="1"/>
          </p:nvPr>
        </p:nvSpPr>
        <p:spPr>
          <a:xfrm>
            <a:off x="858130" y="2152356"/>
            <a:ext cx="8680938" cy="2067951"/>
          </a:xfrm>
        </p:spPr>
        <p:txBody>
          <a:bodyPr>
            <a:normAutofit/>
          </a:bodyPr>
          <a:lstStyle/>
          <a:p>
            <a:pPr marL="0" indent="0">
              <a:buNone/>
            </a:pPr>
            <a:r>
              <a:rPr lang="es-MX" sz="2400" dirty="0"/>
              <a:t>Una vez que ya se guardo correctamente así es como quedaría ya nuestro proyecto funcionando correcto ya que de dicha manera es como se guardan todos los pedidos que se realicen.</a:t>
            </a:r>
          </a:p>
        </p:txBody>
      </p:sp>
    </p:spTree>
    <p:extLst>
      <p:ext uri="{BB962C8B-B14F-4D97-AF65-F5344CB8AC3E}">
        <p14:creationId xmlns:p14="http://schemas.microsoft.com/office/powerpoint/2010/main" val="25697439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A764EC-494D-0FE0-65B8-AA4A86F42C77}"/>
              </a:ext>
            </a:extLst>
          </p:cNvPr>
          <p:cNvSpPr>
            <a:spLocks noGrp="1"/>
          </p:cNvSpPr>
          <p:nvPr>
            <p:ph type="title"/>
          </p:nvPr>
        </p:nvSpPr>
        <p:spPr/>
        <p:txBody>
          <a:bodyPr/>
          <a:lstStyle/>
          <a:p>
            <a:r>
              <a:rPr lang="es-MX" dirty="0"/>
              <a:t>CONCLUSIÓN PERSONAL</a:t>
            </a:r>
          </a:p>
        </p:txBody>
      </p:sp>
      <p:sp>
        <p:nvSpPr>
          <p:cNvPr id="3" name="Marcador de contenido 2">
            <a:extLst>
              <a:ext uri="{FF2B5EF4-FFF2-40B4-BE49-F238E27FC236}">
                <a16:creationId xmlns:a16="http://schemas.microsoft.com/office/drawing/2014/main" id="{CFDF6B65-2703-30C5-F4B1-F5FAEDFDB32D}"/>
              </a:ext>
            </a:extLst>
          </p:cNvPr>
          <p:cNvSpPr>
            <a:spLocks noGrp="1"/>
          </p:cNvSpPr>
          <p:nvPr>
            <p:ph idx="1"/>
          </p:nvPr>
        </p:nvSpPr>
        <p:spPr/>
        <p:txBody>
          <a:bodyPr>
            <a:normAutofit/>
          </a:bodyPr>
          <a:lstStyle/>
          <a:p>
            <a:pPr marL="0" indent="0" algn="just">
              <a:buNone/>
            </a:pPr>
            <a:r>
              <a:rPr lang="es-MX" dirty="0"/>
              <a:t>La realización de este ejercicio permitió comprender el proceso de integración entre una aplicación desarrollada en Angular y una base de datos en la nube mediante </a:t>
            </a:r>
            <a:r>
              <a:rPr lang="es-MX" dirty="0" err="1"/>
              <a:t>Supabase</a:t>
            </a:r>
            <a:r>
              <a:rPr lang="es-MX" dirty="0"/>
              <a:t>. Se logró implementar exitosamente la funcionalidad de registro de pedidos dentro del proyecto Pizzas-</a:t>
            </a:r>
            <a:r>
              <a:rPr lang="es-MX" dirty="0" err="1"/>
              <a:t>Kids</a:t>
            </a:r>
            <a:r>
              <a:rPr lang="es-MX" dirty="0"/>
              <a:t>, permitiendo almacenar información de manera segura y organizada. Esta actividad resultó muy importante porque fortaleció mis conocimientos en desarrollo web, manejo de bases de datos y programación orientada a servicios. Además, pude identificar la importancia de automatizar procesos dentro de un negocio, ya que esto mejora la eficiencia, reduce errores y facilita la administración de la información. Los conocimientos adquiridos durante esta práctica serán de gran utilidad para futuros proyectos de desarrollo de software.</a:t>
            </a:r>
          </a:p>
          <a:p>
            <a:pPr marL="0" indent="0">
              <a:buNone/>
            </a:pPr>
            <a:endParaRPr lang="es-MX" dirty="0"/>
          </a:p>
        </p:txBody>
      </p:sp>
    </p:spTree>
    <p:extLst>
      <p:ext uri="{BB962C8B-B14F-4D97-AF65-F5344CB8AC3E}">
        <p14:creationId xmlns:p14="http://schemas.microsoft.com/office/powerpoint/2010/main" val="1342127653"/>
      </p:ext>
    </p:extLst>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268</TotalTime>
  <Words>634</Words>
  <Application>Microsoft Office PowerPoint</Application>
  <PresentationFormat>Panorámica</PresentationFormat>
  <Paragraphs>28</Paragraphs>
  <Slides>10</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Arial</vt:lpstr>
      <vt:lpstr>Trebuchet MS</vt:lpstr>
      <vt:lpstr>Wingdings 3</vt:lpstr>
      <vt:lpstr>Faceta</vt:lpstr>
      <vt:lpstr>Presentación de PowerPoint</vt:lpstr>
      <vt:lpstr>INTRODUCCIÓN</vt:lpstr>
      <vt:lpstr>JUSTIFICACIÓN</vt:lpstr>
      <vt:lpstr>EJERCICIO</vt:lpstr>
      <vt:lpstr>Presentación de PowerPoint</vt:lpstr>
      <vt:lpstr>Presentación de PowerPoint</vt:lpstr>
      <vt:lpstr>Presentación de PowerPoint</vt:lpstr>
      <vt:lpstr>Presentación de PowerPoint</vt:lpstr>
      <vt:lpstr>Presentación de PowerPoint</vt:lpstr>
      <vt:lpstr>CONCLUSIÓN PERSONAL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MORALES SILVA REYNALDO FELIPE</dc:creator>
  <cp:lastModifiedBy>MORALES SILVA REYNALDO FELIPE</cp:lastModifiedBy>
  <cp:revision>1</cp:revision>
  <dcterms:created xsi:type="dcterms:W3CDTF">2026-06-02T15:54:26Z</dcterms:created>
  <dcterms:modified xsi:type="dcterms:W3CDTF">2026-06-02T20:22:40Z</dcterms:modified>
</cp:coreProperties>
</file>